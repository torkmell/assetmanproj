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44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07792"/>
            <a:ext cx="12191695" cy="45720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600" b="1">
                <a:solidFill>
                  <a:srgbClr val="FFFFFF"/>
                </a:solidFill>
                <a:latin typeface="Georgia"/>
              </a:rPr>
              <a:t>GSD</a:t>
            </a:r>
            <a:r>
              <a:rPr sz="4600" b="1">
                <a:solidFill>
                  <a:srgbClr val="C9A96E"/>
                </a:solidFill>
                <a:latin typeface="Georgia"/>
              </a:rPr>
              <a:t>2</a:t>
            </a:r>
            <a:r>
              <a:rPr sz="4600" b="1">
                <a:solidFill>
                  <a:srgbClr val="FFFFFF"/>
                </a:solidFill>
                <a:latin typeface="Georgia"/>
              </a:rPr>
              <a:t>T  Asset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0632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C9A96E"/>
                </a:solidFill>
                <a:latin typeface="Calibri"/>
              </a:rPr>
              <a:t>A diversified, macro-aware equity strategy that compounds by losing less.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79476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Quant Fund Pitch · ESADE Asset Management · seeking a USD 100M commitment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59436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A6F8C"/>
                </a:solidFill>
                <a:latin typeface="Calibri"/>
              </a:rPr>
              <a:t>SIMULATED / FICTIONAL pitch for academic evaluation. Past (simulated) performance does not indicate future results.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786384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9A96E"/>
                </a:solidFill>
                <a:latin typeface="Calibri"/>
              </a:rPr>
              <a:t>THE ASK · USD 100M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41148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>
                <a:solidFill>
                  <a:srgbClr val="C9A96E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A6F8C"/>
                </a:solidFill>
                <a:latin typeface="Calibri"/>
              </a:rPr>
              <a:t>GSD2T ASSET MANAGEMENT · SIMULATED / FICTIONAL PITCH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2514600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73152" cy="1143000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527048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C9A96E"/>
                </a:solidFill>
                <a:latin typeface="Calibri"/>
              </a:rPr>
              <a:t>NET CAGR (TO INVESTOR)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746504"/>
            <a:ext cx="2240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Georgia"/>
              </a:rPr>
              <a:t>13.1%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258568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B8C8E0"/>
                </a:solidFill>
                <a:latin typeface="Calibri"/>
              </a:rPr>
              <a:t>vs S&amp;P 500 10.0%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0128" y="1417320"/>
            <a:ext cx="2514600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10128" y="1417320"/>
            <a:ext cx="73152" cy="1143000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93008" y="1527048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C9A96E"/>
                </a:solidFill>
                <a:latin typeface="Calibri"/>
              </a:rPr>
              <a:t>SHARPE (GROSS)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93008" y="1746504"/>
            <a:ext cx="2240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Georgia"/>
              </a:rPr>
              <a:t>1.15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3008" y="2258568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B8C8E0"/>
                </a:solidFill>
                <a:latin typeface="Calibri"/>
              </a:rPr>
              <a:t>vs S&amp;P 500 0.65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17336" y="1417320"/>
            <a:ext cx="2514600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17336" y="1417320"/>
            <a:ext cx="73152" cy="1143000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00216" y="1527048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C9A96E"/>
                </a:solidFill>
                <a:latin typeface="Calibri"/>
              </a:rPr>
              <a:t>MAX DRAWDOWN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0216" y="1746504"/>
            <a:ext cx="2240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Georgia"/>
              </a:rPr>
              <a:t>-21.2%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0216" y="2258568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B8C8E0"/>
                </a:solidFill>
                <a:latin typeface="Calibri"/>
              </a:rPr>
              <a:t>vs S&amp;P 500 -50.8%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24544" y="1417320"/>
            <a:ext cx="2514600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924544" y="1417320"/>
            <a:ext cx="73152" cy="1143000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07424" y="1527048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C9A96E"/>
                </a:solidFill>
                <a:latin typeface="Calibri"/>
              </a:rPr>
              <a:t>ALPHA (FF5+MOM)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07424" y="1746504"/>
            <a:ext cx="2240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Georgia"/>
              </a:rPr>
              <a:t>+6.3%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07424" y="2258568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B8C8E0"/>
                </a:solidFill>
                <a:latin typeface="Calibri"/>
              </a:rPr>
              <a:t>t = 4.8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2971800"/>
            <a:ext cx="111556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 dirty="0">
                <a:solidFill>
                  <a:srgbClr val="C9A96E"/>
                </a:solidFill>
                <a:latin typeface="Calibri"/>
              </a:rPr>
              <a:t>▪  </a:t>
            </a:r>
            <a:r>
              <a:rPr sz="1400" b="1" dirty="0">
                <a:solidFill>
                  <a:srgbClr val="0B1F3A"/>
                </a:solidFill>
                <a:latin typeface="Calibri"/>
              </a:rPr>
              <a:t>What we are: </a:t>
            </a:r>
            <a:r>
              <a:rPr sz="1400" dirty="0">
                <a:solidFill>
                  <a:srgbClr val="222A38"/>
                </a:solidFill>
                <a:latin typeface="Calibri"/>
              </a:rPr>
              <a:t>a long-only, systematic S&amp;P 500 strategy with a macro-regime risk overlay and a productive defensive sleeve. Daily-liquid, transparent, factor-aware.</a:t>
            </a:r>
          </a:p>
          <a:p>
            <a:pPr>
              <a:spcAft>
                <a:spcPts val="900"/>
              </a:spcAft>
            </a:pPr>
            <a:r>
              <a:rPr sz="1400" b="1" dirty="0">
                <a:solidFill>
                  <a:srgbClr val="C9A96E"/>
                </a:solidFill>
                <a:latin typeface="Calibri"/>
              </a:rPr>
              <a:t>▪  </a:t>
            </a:r>
            <a:r>
              <a:rPr sz="1400" b="1" dirty="0">
                <a:solidFill>
                  <a:srgbClr val="0B1F3A"/>
                </a:solidFill>
                <a:latin typeface="Calibri"/>
              </a:rPr>
              <a:t>The edge: </a:t>
            </a:r>
            <a:r>
              <a:rPr sz="1400" dirty="0">
                <a:solidFill>
                  <a:srgbClr val="222A38"/>
                </a:solidFill>
                <a:latin typeface="Calibri"/>
              </a:rPr>
              <a:t>we do not claim a faster momentum signal — we claim superior capital preservation. A 4-factor macro overlay cuts equity exposure in stress and rotates into Treasuries + gold, not idle cash.</a:t>
            </a:r>
          </a:p>
          <a:p>
            <a:pPr>
              <a:spcAft>
                <a:spcPts val="900"/>
              </a:spcAft>
            </a:pPr>
            <a:r>
              <a:rPr sz="1400" b="1" dirty="0">
                <a:solidFill>
                  <a:srgbClr val="C9A96E"/>
                </a:solidFill>
                <a:latin typeface="Calibri"/>
              </a:rPr>
              <a:t>▪  </a:t>
            </a:r>
            <a:r>
              <a:rPr sz="1400" b="1" dirty="0">
                <a:solidFill>
                  <a:srgbClr val="0B1F3A"/>
                </a:solidFill>
                <a:latin typeface="Calibri"/>
              </a:rPr>
              <a:t>The result (simulated, 2002–2026): </a:t>
            </a:r>
            <a:r>
              <a:rPr sz="1400" dirty="0">
                <a:solidFill>
                  <a:srgbClr val="222A38"/>
                </a:solidFill>
                <a:latin typeface="Calibri"/>
              </a:rPr>
              <a:t>market-beating compounding at ~2/3 of the market's volatility and less than half its drawdown; statistically significant alpha that holds out-of-sample (IS Sharpe 1.16 → OOS 1.14).</a:t>
            </a:r>
          </a:p>
          <a:p>
            <a:pPr>
              <a:spcAft>
                <a:spcPts val="900"/>
              </a:spcAft>
            </a:pPr>
            <a:r>
              <a:rPr sz="1400" b="1" dirty="0">
                <a:solidFill>
                  <a:srgbClr val="C9A96E"/>
                </a:solidFill>
                <a:latin typeface="Calibri"/>
              </a:rPr>
              <a:t>▪  </a:t>
            </a:r>
            <a:r>
              <a:rPr sz="1400" b="1" dirty="0">
                <a:solidFill>
                  <a:srgbClr val="0B1F3A"/>
                </a:solidFill>
                <a:latin typeface="Calibri"/>
              </a:rPr>
              <a:t>Honesty first: </a:t>
            </a:r>
            <a:r>
              <a:rPr sz="1400" dirty="0">
                <a:solidFill>
                  <a:srgbClr val="222A38"/>
                </a:solidFill>
                <a:latin typeface="Calibri"/>
              </a:rPr>
              <a:t>survivorship bias measured on point-in-time Bloomberg data (~1%/yr), full transaction costs, train/test discipline, and standard enhancements tested and rejected.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The edge — what inefficiency, and why it persists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786384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9A96E"/>
                </a:solidFill>
                <a:latin typeface="Calibri"/>
              </a:rPr>
              <a:t>EDGE &amp; STRATEGY COHERENCE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41148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>
                <a:solidFill>
                  <a:srgbClr val="C9A96E"/>
                </a:solidFill>
                <a:latin typeface="Calibr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A6F8C"/>
                </a:solidFill>
                <a:latin typeface="Calibri"/>
              </a:rPr>
              <a:t>GSD2T ASSET MANAGEMENT · SIMULATED / FICTIONAL PITCH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173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400" b="1">
                <a:solidFill>
                  <a:srgbClr val="C9A96E"/>
                </a:solidFill>
                <a:latin typeface="Calibri"/>
              </a:rPr>
              <a:t>▪  </a:t>
            </a:r>
            <a:r>
              <a:rPr sz="1400" b="1">
                <a:solidFill>
                  <a:srgbClr val="0B1F3A"/>
                </a:solidFill>
                <a:latin typeface="Calibri"/>
              </a:rPr>
              <a:t>The inefficiency: </a:t>
            </a:r>
            <a:r>
              <a:rPr sz="1400">
                <a:solidFill>
                  <a:srgbClr val="222A38"/>
                </a:solidFill>
                <a:latin typeface="Calibri"/>
              </a:rPr>
              <a:t>investors systematically overpay in calm markets and panic-sell in stress. Cross-sectional momentum persists because of under-reaction; drawdowns persist because risk premia are time-varying.</a:t>
            </a:r>
          </a:p>
          <a:p>
            <a:pPr>
              <a:spcAft>
                <a:spcPts val="1100"/>
              </a:spcAft>
            </a:pPr>
            <a:r>
              <a:rPr sz="1400" b="1">
                <a:solidFill>
                  <a:srgbClr val="C9A96E"/>
                </a:solidFill>
                <a:latin typeface="Calibri"/>
              </a:rPr>
              <a:t>▪  </a:t>
            </a:r>
            <a:r>
              <a:rPr sz="1400" b="1">
                <a:solidFill>
                  <a:srgbClr val="0B1F3A"/>
                </a:solidFill>
                <a:latin typeface="Calibri"/>
              </a:rPr>
              <a:t>Our claim: </a:t>
            </a:r>
            <a:r>
              <a:rPr sz="1400">
                <a:solidFill>
                  <a:srgbClr val="222A38"/>
                </a:solidFill>
                <a:latin typeface="Calibri"/>
              </a:rPr>
              <a:t>the durable money is not in a better stock signal (commoditised) — it is in disciplined, rules-based de-risking that most discretionary investors cannot execute under pressure.</a:t>
            </a:r>
          </a:p>
          <a:p>
            <a:pPr>
              <a:spcAft>
                <a:spcPts val="1100"/>
              </a:spcAft>
            </a:pPr>
            <a:r>
              <a:rPr sz="1400" b="1">
                <a:solidFill>
                  <a:srgbClr val="C9A96E"/>
                </a:solidFill>
                <a:latin typeface="Calibri"/>
              </a:rPr>
              <a:t>▪  </a:t>
            </a:r>
            <a:r>
              <a:rPr sz="1400" b="1">
                <a:solidFill>
                  <a:srgbClr val="0B1F3A"/>
                </a:solidFill>
                <a:latin typeface="Calibri"/>
              </a:rPr>
              <a:t>Why it persists: </a:t>
            </a:r>
            <a:r>
              <a:rPr sz="1400">
                <a:solidFill>
                  <a:srgbClr val="222A38"/>
                </a:solidFill>
                <a:latin typeface="Calibri"/>
              </a:rPr>
              <a:t>it is behavioural and structural, not arbitrageable away — mandates, career risk and leverage constraints stop most managers from cutting exposure when signals say so.</a:t>
            </a:r>
          </a:p>
          <a:p>
            <a:pPr>
              <a:spcAft>
                <a:spcPts val="1100"/>
              </a:spcAft>
            </a:pPr>
            <a:r>
              <a:rPr sz="1400" b="1">
                <a:solidFill>
                  <a:srgbClr val="C9A96E"/>
                </a:solidFill>
                <a:latin typeface="Calibri"/>
              </a:rPr>
              <a:t>▪  </a:t>
            </a:r>
            <a:r>
              <a:rPr sz="1400" b="1">
                <a:solidFill>
                  <a:srgbClr val="0B1F3A"/>
                </a:solidFill>
                <a:latin typeface="Calibri"/>
              </a:rPr>
              <a:t>Why us: </a:t>
            </a:r>
            <a:r>
              <a:rPr sz="1400">
                <a:solidFill>
                  <a:srgbClr val="222A38"/>
                </a:solidFill>
                <a:latin typeface="Calibri"/>
              </a:rPr>
              <a:t>a transparent, repeatable process with no discretion, no leverage, and a defensive sleeve that turns risk-off periods from a drag into a contributor.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554480"/>
            <a:ext cx="5212080" cy="4206240"/>
          </a:xfrm>
          <a:prstGeom prst="rect">
            <a:avLst/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29400" y="17373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B1F3A"/>
                </a:solidFill>
                <a:latin typeface="Calibri"/>
              </a:rPr>
              <a:t>WHERE THE EDGE SHOWS UP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629400" y="2194560"/>
          <a:ext cx="4754879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06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21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21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T="25400" marB="2540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GSD2T</a:t>
                      </a:r>
                    </a:p>
                  </a:txBody>
                  <a:tcPr marT="25400" marB="2540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S&amp;P 500</a:t>
                      </a:r>
                    </a:p>
                  </a:txBody>
                  <a:tcPr marT="25400" marB="25400"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B1F3A"/>
                          </a:solidFill>
                          <a:latin typeface="Calibri"/>
                        </a:rPr>
                        <a:t>Sharpe (risk-adjusted)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B1F3A"/>
                          </a:solidFill>
                          <a:latin typeface="Calibri"/>
                        </a:rPr>
                        <a:t>1.15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B1F3A"/>
                          </a:solidFill>
                          <a:latin typeface="Calibri"/>
                        </a:rPr>
                        <a:t>0.65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B1F3A"/>
                          </a:solidFill>
                          <a:latin typeface="Calibri"/>
                        </a:rPr>
                        <a:t>Max drawdown</a:t>
                      </a:r>
                    </a:p>
                  </a:txBody>
                  <a:tcPr marT="12700" marB="12700">
                    <a:solidFill>
                      <a:srgbClr val="F5F2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B1F3A"/>
                          </a:solidFill>
                          <a:latin typeface="Calibri"/>
                        </a:rPr>
                        <a:t>-21.2%</a:t>
                      </a:r>
                    </a:p>
                  </a:txBody>
                  <a:tcPr marT="12700" marB="12700">
                    <a:solidFill>
                      <a:srgbClr val="F5F2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B1F3A"/>
                          </a:solidFill>
                          <a:latin typeface="Calibri"/>
                        </a:rPr>
                        <a:t>-50.8%</a:t>
                      </a:r>
                    </a:p>
                  </a:txBody>
                  <a:tcPr marT="12700" marB="12700">
                    <a:solidFill>
                      <a:srgbClr val="F5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B1F3A"/>
                          </a:solidFill>
                          <a:latin typeface="Calibri"/>
                        </a:rPr>
                        <a:t>Volatility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B1F3A"/>
                          </a:solidFill>
                          <a:latin typeface="Calibri"/>
                        </a:rPr>
                        <a:t>11.9%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B1F3A"/>
                          </a:solidFill>
                          <a:latin typeface="Calibri"/>
                        </a:rPr>
                        <a:t>15.1%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B1F3A"/>
                          </a:solidFill>
                          <a:latin typeface="Calibri"/>
                        </a:rPr>
                        <a:t>Worst crisis (GFC)</a:t>
                      </a:r>
                    </a:p>
                  </a:txBody>
                  <a:tcPr marT="12700" marB="12700">
                    <a:solidFill>
                      <a:srgbClr val="F5F2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B1F3A"/>
                          </a:solidFill>
                          <a:latin typeface="Calibri"/>
                        </a:rPr>
                        <a:t>see stress</a:t>
                      </a:r>
                    </a:p>
                  </a:txBody>
                  <a:tcPr marT="12700" marB="12700">
                    <a:solidFill>
                      <a:srgbClr val="F5F2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B1F3A"/>
                          </a:solidFill>
                          <a:latin typeface="Calibri"/>
                        </a:rPr>
                        <a:t>−50%+</a:t>
                      </a:r>
                    </a:p>
                  </a:txBody>
                  <a:tcPr marT="12700" marB="12700">
                    <a:solidFill>
                      <a:srgbClr val="F5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629400" y="5029200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B1F3A"/>
                </a:solidFill>
                <a:latin typeface="Calibri"/>
              </a:rPr>
              <a:t>We win on the denominator (risk), not by chasing the numerator (return).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Data &amp; signals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786384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9A96E"/>
                </a:solidFill>
                <a:latin typeface="Calibri"/>
              </a:rPr>
              <a:t>DATA HYGIENE · NO LOOK-AHEAD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41148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>
                <a:solidFill>
                  <a:srgbClr val="C9A96E"/>
                </a:solidFill>
                <a:latin typeface="Calibri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A6F8C"/>
                </a:solidFill>
                <a:latin typeface="Calibri"/>
              </a:rPr>
              <a:t>GSD2T ASSET MANAGEMENT · SIMULATED / FICTIONAL PITCH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F8C"/>
                </a:solidFill>
                <a:latin typeface="Calibri"/>
              </a:rPr>
              <a:t>Two signal layers, both computed only from information available at decision time (lagged), then traded the next month.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28800"/>
            <a:ext cx="5394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B1F3A"/>
                </a:solidFill>
                <a:latin typeface="Calibri"/>
              </a:rPr>
              <a:t>LAYER 1 — STOCK SELECTION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2194560"/>
          <a:ext cx="53949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8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6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marT="25400" marB="2540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Detail</a:t>
                      </a:r>
                    </a:p>
                  </a:txBody>
                  <a:tcPr marT="25400" marB="25400"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B1F3A"/>
                          </a:solidFill>
                          <a:latin typeface="Calibri"/>
                        </a:rPr>
                        <a:t>Signal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B1F3A"/>
                          </a:solidFill>
                          <a:latin typeface="Calibri"/>
                        </a:rPr>
                        <a:t>12-1 month price momentum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B1F3A"/>
                          </a:solidFill>
                          <a:latin typeface="Calibri"/>
                        </a:rPr>
                        <a:t>Universe</a:t>
                      </a:r>
                    </a:p>
                  </a:txBody>
                  <a:tcPr marT="12700" marB="12700">
                    <a:solidFill>
                      <a:srgbClr val="F5F2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B1F3A"/>
                          </a:solidFill>
                          <a:latin typeface="Calibri"/>
                        </a:rPr>
                        <a:t>Full S&amp;P 500, all 11 sectors</a:t>
                      </a:r>
                    </a:p>
                  </a:txBody>
                  <a:tcPr marT="12700" marB="12700">
                    <a:solidFill>
                      <a:srgbClr val="F5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B1F3A"/>
                          </a:solidFill>
                          <a:latin typeface="Calibri"/>
                        </a:rPr>
                        <a:t>Ranking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B1F3A"/>
                          </a:solidFill>
                          <a:latin typeface="Calibri"/>
                        </a:rPr>
                        <a:t>Cross-sectional z-score each month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B1F3A"/>
                          </a:solidFill>
                          <a:latin typeface="Calibri"/>
                        </a:rPr>
                        <a:t>Selection</a:t>
                      </a:r>
                    </a:p>
                  </a:txBody>
                  <a:tcPr marT="12700" marB="12700">
                    <a:solidFill>
                      <a:srgbClr val="F5F2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B1F3A"/>
                          </a:solidFill>
                          <a:latin typeface="Calibri"/>
                        </a:rPr>
                        <a:t>Equal-weight top quartile (~125 names)</a:t>
                      </a:r>
                    </a:p>
                  </a:txBody>
                  <a:tcPr marT="12700" marB="12700">
                    <a:solidFill>
                      <a:srgbClr val="F5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217920" y="182880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B1F3A"/>
                </a:solidFill>
                <a:latin typeface="Calibri"/>
              </a:rPr>
              <a:t>LAYER 2 — MACRO OVERLAY (4 FACTORS)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217920" y="2194560"/>
          <a:ext cx="5486399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Factor</a:t>
                      </a:r>
                    </a:p>
                  </a:txBody>
                  <a:tcPr marT="25400" marB="2540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Captures</a:t>
                      </a:r>
                    </a:p>
                  </a:txBody>
                  <a:tcPr marT="25400" marB="2540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T="25400" marB="25400"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1F3A"/>
                          </a:solidFill>
                          <a:latin typeface="Calibri"/>
                        </a:rPr>
                        <a:t>VIX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B1F3A"/>
                          </a:solidFill>
                          <a:latin typeface="Calibri"/>
                        </a:rPr>
                        <a:t>Equity fear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B1F3A"/>
                          </a:solidFill>
                          <a:latin typeface="Calibri"/>
                        </a:rPr>
                        <a:t>CBOE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1F3A"/>
                          </a:solidFill>
                          <a:latin typeface="Calibri"/>
                        </a:rPr>
                        <a:t>Credit (IEF−HYG)</a:t>
                      </a:r>
                    </a:p>
                  </a:txBody>
                  <a:tcPr marT="12700" marB="12700">
                    <a:solidFill>
                      <a:srgbClr val="F5F2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B1F3A"/>
                          </a:solidFill>
                          <a:latin typeface="Calibri"/>
                        </a:rPr>
                        <a:t>Credit stress</a:t>
                      </a:r>
                    </a:p>
                  </a:txBody>
                  <a:tcPr marT="12700" marB="12700">
                    <a:solidFill>
                      <a:srgbClr val="F5F2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B1F3A"/>
                          </a:solidFill>
                          <a:latin typeface="Calibri"/>
                        </a:rPr>
                        <a:t>ETF px</a:t>
                      </a:r>
                    </a:p>
                  </a:txBody>
                  <a:tcPr marT="12700" marB="12700">
                    <a:solidFill>
                      <a:srgbClr val="F5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1F3A"/>
                          </a:solidFill>
                          <a:latin typeface="Calibri"/>
                        </a:rPr>
                        <a:t>10Y yield Δ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B1F3A"/>
                          </a:solidFill>
                          <a:latin typeface="Calibri"/>
                        </a:rPr>
                        <a:t>Rate tightening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B1F3A"/>
                          </a:solidFill>
                          <a:latin typeface="Calibri"/>
                        </a:rPr>
                        <a:t>UST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1F3A"/>
                          </a:solidFill>
                          <a:latin typeface="Calibri"/>
                        </a:rPr>
                        <a:t>Index trend</a:t>
                      </a:r>
                    </a:p>
                  </a:txBody>
                  <a:tcPr marT="12700" marB="12700">
                    <a:solidFill>
                      <a:srgbClr val="F5F2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B1F3A"/>
                          </a:solidFill>
                          <a:latin typeface="Calibri"/>
                        </a:rPr>
                        <a:t>Market momentum</a:t>
                      </a:r>
                    </a:p>
                  </a:txBody>
                  <a:tcPr marT="12700" marB="12700">
                    <a:solidFill>
                      <a:srgbClr val="F5F2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B1F3A"/>
                          </a:solidFill>
                          <a:latin typeface="Calibri"/>
                        </a:rPr>
                        <a:t>S&amp;P 500</a:t>
                      </a:r>
                    </a:p>
                  </a:txBody>
                  <a:tcPr marT="12700" marB="12700">
                    <a:solidFill>
                      <a:srgbClr val="F5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502920" y="4617720"/>
            <a:ext cx="11155680" cy="1371600"/>
          </a:xfrm>
          <a:prstGeom prst="rect">
            <a:avLst/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47091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 b="1">
                <a:solidFill>
                  <a:srgbClr val="C9A96E"/>
                </a:solidFill>
                <a:latin typeface="Calibri"/>
              </a:rPr>
              <a:t>▪  </a:t>
            </a:r>
            <a:r>
              <a:rPr sz="1200" b="1">
                <a:solidFill>
                  <a:srgbClr val="0B1F3A"/>
                </a:solidFill>
                <a:latin typeface="Calibri"/>
              </a:rPr>
              <a:t>Data sources: </a:t>
            </a:r>
            <a:r>
              <a:rPr sz="1200">
                <a:solidFill>
                  <a:srgbClr val="222A38"/>
                </a:solidFill>
                <a:latin typeface="Calibri"/>
              </a:rPr>
              <a:t>yfinance (prices, VIX, ETFs), Ken French library (FF5 + Momentum, risk-free), Bloomberg point-in-time S&amp;P 500 membership for the survivorship test.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C9A96E"/>
                </a:solidFill>
                <a:latin typeface="Calibri"/>
              </a:rPr>
              <a:t>▪  </a:t>
            </a:r>
            <a:r>
              <a:rPr sz="1200" b="1">
                <a:solidFill>
                  <a:srgbClr val="0B1F3A"/>
                </a:solidFill>
                <a:latin typeface="Calibri"/>
              </a:rPr>
              <a:t>Look-ahead controls: </a:t>
            </a:r>
            <a:r>
              <a:rPr sz="1200">
                <a:solidFill>
                  <a:srgbClr val="222A38"/>
                </a:solidFill>
                <a:latin typeface="Calibri"/>
              </a:rPr>
              <a:t>all signals lagged ≥1 month; rolling z-scores use only trailing windows; 2000–2001 reserved as signal warm-up, performance measured from 2002.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The strategy — two layers plus a defensive sleeve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786384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9A96E"/>
                </a:solidFill>
                <a:latin typeface="Calibri"/>
              </a:rPr>
              <a:t>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41148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>
                <a:solidFill>
                  <a:srgbClr val="C9A96E"/>
                </a:solidFill>
                <a:latin typeface="Calibri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A6F8C"/>
                </a:solidFill>
                <a:latin typeface="Calibri"/>
              </a:rPr>
              <a:t>GSD2T ASSET MANAGEMENT · SIMULATED / FICTIONAL PITCH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463040"/>
            <a:ext cx="3566160" cy="23774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64592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9A96E"/>
                </a:solidFill>
                <a:latin typeface="Calibri"/>
              </a:rPr>
              <a:t>1 · SELECT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40280"/>
            <a:ext cx="3200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Buy the strongest momentum stocks across all 11 S&amp;P 500 sectors. Equal-weight, diversified — not a tech bet.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463040"/>
            <a:ext cx="3566160" cy="2377440"/>
          </a:xfrm>
          <a:prstGeom prst="rect">
            <a:avLst/>
          </a:prstGeom>
          <a:solidFill>
            <a:srgbClr val="1E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164592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9A96E"/>
                </a:solidFill>
                <a:latin typeface="Calibri"/>
              </a:rPr>
              <a:t>2 · OVERLAY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240280"/>
            <a:ext cx="3200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A 4-factor macro 'risk dial' scales equity exposure 30–100%. Calm → fully invested; stress → de-risk hard.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1463040"/>
            <a:ext cx="3566160" cy="237744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164592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9A96E"/>
                </a:solidFill>
                <a:latin typeface="Calibri"/>
              </a:rPr>
              <a:t>3 · DEFENSIVE SLEEVE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240280"/>
            <a:ext cx="3200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The de-risked portion earns Treasuries + gold (convexity in crises), not idle cash. This is V1 — our key refinement.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11480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Position per stock = (1 / number held) × macro exposure.   No leverage · no shorting · monthly rebalance · 15 bps round-trip cost.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1">
                <a:solidFill>
                  <a:srgbClr val="C9A96E"/>
                </a:solidFill>
                <a:latin typeface="Calibri"/>
              </a:rPr>
              <a:t>▪  </a:t>
            </a:r>
            <a:r>
              <a:rPr sz="1300" b="1">
                <a:solidFill>
                  <a:srgbClr val="0B1F3A"/>
                </a:solidFill>
                <a:latin typeface="Calibri"/>
              </a:rPr>
              <a:t>Genuinely diversified: </a:t>
            </a:r>
            <a:r>
              <a:rPr sz="1300">
                <a:solidFill>
                  <a:srgbClr val="222A38"/>
                </a:solidFill>
                <a:latin typeface="Calibri"/>
              </a:rPr>
              <a:t>currently 126 holdings across 11 sectors — concentration risk is structurally capped (~1% per name).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C9A96E"/>
                </a:solidFill>
                <a:latin typeface="Calibri"/>
              </a:rPr>
              <a:t>▪  </a:t>
            </a:r>
            <a:r>
              <a:rPr sz="1300" b="1">
                <a:solidFill>
                  <a:srgbClr val="0B1F3A"/>
                </a:solidFill>
                <a:latin typeface="Calibri"/>
              </a:rPr>
              <a:t>It generalises: </a:t>
            </a:r>
            <a:r>
              <a:rPr sz="1300">
                <a:solidFill>
                  <a:srgbClr val="222A38"/>
                </a:solidFill>
                <a:latin typeface="Calibri"/>
              </a:rPr>
              <a:t>the same engine gives ~1.0 Sharpe on the Dow 30 and the tech sub-universe — evidence of a real effect, not a single-market fit.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Portfolio construction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786384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9A96E"/>
                </a:solidFill>
                <a:latin typeface="Calibri"/>
              </a:rPr>
              <a:t>PORTFOLIO CONSTRUCTION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41148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>
                <a:solidFill>
                  <a:srgbClr val="C9A96E"/>
                </a:solidFill>
                <a:latin typeface="Calibri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A6F8C"/>
                </a:solidFill>
                <a:latin typeface="Calibri"/>
              </a:rPr>
              <a:t>GSD2T ASSET MANAGEMENT · SIMULATED / FICTIONAL PITCH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3258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B1F3A"/>
                </a:solidFill>
                <a:latin typeface="Calibri"/>
              </a:rPr>
              <a:t>CURRENT SECTOR SPREAD (DIVERSIFIED)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691640"/>
          <a:ext cx="5120639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45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60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Sector</a:t>
                      </a:r>
                    </a:p>
                  </a:txBody>
                  <a:tcPr marT="25400" marB="2540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# stocks</a:t>
                      </a:r>
                    </a:p>
                  </a:txBody>
                  <a:tcPr marT="25400" marB="25400"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1F3A"/>
                          </a:solidFill>
                          <a:latin typeface="Calibri"/>
                        </a:rPr>
                        <a:t>Information Technology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B1F3A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1F3A"/>
                          </a:solidFill>
                          <a:latin typeface="Calibri"/>
                        </a:rPr>
                        <a:t>Industrials</a:t>
                      </a:r>
                    </a:p>
                  </a:txBody>
                  <a:tcPr marT="12700" marB="12700">
                    <a:solidFill>
                      <a:srgbClr val="F5F2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B1F3A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marT="12700" marB="12700">
                    <a:solidFill>
                      <a:srgbClr val="F5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1F3A"/>
                          </a:solidFill>
                          <a:latin typeface="Calibri"/>
                        </a:rPr>
                        <a:t>Financials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B1F3A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1F3A"/>
                          </a:solidFill>
                          <a:latin typeface="Calibri"/>
                        </a:rPr>
                        <a:t>Energy</a:t>
                      </a:r>
                    </a:p>
                  </a:txBody>
                  <a:tcPr marT="12700" marB="12700">
                    <a:solidFill>
                      <a:srgbClr val="F5F2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B1F3A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T="12700" marB="12700">
                    <a:solidFill>
                      <a:srgbClr val="F5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1F3A"/>
                          </a:solidFill>
                          <a:latin typeface="Calibri"/>
                        </a:rPr>
                        <a:t>Materials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B1F3A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1F3A"/>
                          </a:solidFill>
                          <a:latin typeface="Calibri"/>
                        </a:rPr>
                        <a:t>Health Care</a:t>
                      </a:r>
                    </a:p>
                  </a:txBody>
                  <a:tcPr marT="12700" marB="12700">
                    <a:solidFill>
                      <a:srgbClr val="F5F2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B1F3A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T="12700" marB="12700">
                    <a:solidFill>
                      <a:srgbClr val="F5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1F3A"/>
                          </a:solidFill>
                          <a:latin typeface="Calibri"/>
                        </a:rPr>
                        <a:t>Consumer Discretionary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B1F3A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1F3A"/>
                          </a:solidFill>
                          <a:latin typeface="Calibri"/>
                        </a:rPr>
                        <a:t>Communication Services</a:t>
                      </a:r>
                    </a:p>
                  </a:txBody>
                  <a:tcPr marT="12700" marB="12700">
                    <a:solidFill>
                      <a:srgbClr val="F5F2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B1F3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T="12700" marB="12700">
                    <a:solidFill>
                      <a:srgbClr val="F5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17920" y="13258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B1F3A"/>
                </a:solidFill>
                <a:latin typeface="Calibri"/>
              </a:rPr>
              <a:t>CONSTRUCTION RULES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73736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50" b="1">
                <a:solidFill>
                  <a:srgbClr val="C9A96E"/>
                </a:solidFill>
                <a:latin typeface="Calibri"/>
              </a:rPr>
              <a:t>▪  </a:t>
            </a:r>
            <a:r>
              <a:rPr sz="1250" b="1">
                <a:solidFill>
                  <a:srgbClr val="0B1F3A"/>
                </a:solidFill>
                <a:latin typeface="Calibri"/>
              </a:rPr>
              <a:t>Weighting: </a:t>
            </a:r>
            <a:r>
              <a:rPr sz="1250">
                <a:solidFill>
                  <a:srgbClr val="222A38"/>
                </a:solidFill>
                <a:latin typeface="Calibri"/>
              </a:rPr>
              <a:t>equal-weight within the book (tested inverse-vol and concentration — neither improved risk-adjusted returns).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C9A96E"/>
                </a:solidFill>
                <a:latin typeface="Calibri"/>
              </a:rPr>
              <a:t>▪  </a:t>
            </a:r>
            <a:r>
              <a:rPr sz="1250" b="1">
                <a:solidFill>
                  <a:srgbClr val="0B1F3A"/>
                </a:solidFill>
                <a:latin typeface="Calibri"/>
              </a:rPr>
              <a:t>Exposure: </a:t>
            </a:r>
            <a:r>
              <a:rPr sz="1250">
                <a:solidFill>
                  <a:srgbClr val="222A38"/>
                </a:solidFill>
                <a:latin typeface="Calibri"/>
              </a:rPr>
              <a:t>macro overlay sets gross 30–100%; average ~65% in equities, the rest in the defensive sleeve.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C9A96E"/>
                </a:solidFill>
                <a:latin typeface="Calibri"/>
              </a:rPr>
              <a:t>▪  </a:t>
            </a:r>
            <a:r>
              <a:rPr sz="1250" b="1">
                <a:solidFill>
                  <a:srgbClr val="0B1F3A"/>
                </a:solidFill>
                <a:latin typeface="Calibri"/>
              </a:rPr>
              <a:t>Defensive sleeve: </a:t>
            </a:r>
            <a:r>
              <a:rPr sz="1250">
                <a:solidFill>
                  <a:srgbClr val="222A38"/>
                </a:solidFill>
                <a:latin typeface="Calibri"/>
              </a:rPr>
              <a:t>Treasuries + gold (TLT/GLD, IEF early) — liquid ETFs, rebalanced with the book.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C9A96E"/>
                </a:solidFill>
                <a:latin typeface="Calibri"/>
              </a:rPr>
              <a:t>▪  </a:t>
            </a:r>
            <a:r>
              <a:rPr sz="1250" b="1">
                <a:solidFill>
                  <a:srgbClr val="0B1F3A"/>
                </a:solidFill>
                <a:latin typeface="Calibri"/>
              </a:rPr>
              <a:t>Constraints: </a:t>
            </a:r>
            <a:r>
              <a:rPr sz="1250">
                <a:solidFill>
                  <a:srgbClr val="222A38"/>
                </a:solidFill>
                <a:latin typeface="Calibri"/>
              </a:rPr>
              <a:t>long-only, no leverage, ~1% single-name cap, monthly rebalance.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C9A96E"/>
                </a:solidFill>
                <a:latin typeface="Calibri"/>
              </a:rPr>
              <a:t>▪  </a:t>
            </a:r>
            <a:r>
              <a:rPr sz="1250" b="1">
                <a:solidFill>
                  <a:srgbClr val="0B1F3A"/>
                </a:solidFill>
                <a:latin typeface="Calibri"/>
              </a:rPr>
              <a:t>Costs: </a:t>
            </a:r>
            <a:r>
              <a:rPr sz="1250">
                <a:solidFill>
                  <a:srgbClr val="222A38"/>
                </a:solidFill>
                <a:latin typeface="Calibri"/>
              </a:rPr>
              <a:t>15 bps round-trip applied to all turnover (~378%/yr); returns are net of these.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Risk framework — the core of the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786384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9A96E"/>
                </a:solidFill>
                <a:latin typeface="Calibri"/>
              </a:rPr>
              <a:t>RISK FRAMEWORK (15 PTS)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41148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>
                <a:solidFill>
                  <a:srgbClr val="C9A96E"/>
                </a:solidFill>
                <a:latin typeface="Calibri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A6F8C"/>
                </a:solidFill>
                <a:latin typeface="Calibri"/>
              </a:rPr>
              <a:t>GSD2T ASSET MANAGEMENT · SIMULATED / FICTIONAL PITCH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371600"/>
            <a:ext cx="2514600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371600"/>
            <a:ext cx="73152" cy="1143000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481328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C9A96E"/>
                </a:solidFill>
                <a:latin typeface="Calibri"/>
              </a:rPr>
              <a:t>VOLATILITY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700784"/>
            <a:ext cx="2240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Georgia"/>
              </a:rPr>
              <a:t>11.9%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212848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B8C8E0"/>
                </a:solidFill>
                <a:latin typeface="Calibri"/>
              </a:rPr>
              <a:t>vs market 15.1%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0128" y="1371600"/>
            <a:ext cx="2514600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10128" y="1371600"/>
            <a:ext cx="73152" cy="1143000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93008" y="1481328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C9A96E"/>
                </a:solidFill>
                <a:latin typeface="Calibri"/>
              </a:rPr>
              <a:t>MAX DRAWDOWN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93008" y="1700784"/>
            <a:ext cx="2240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Georgia"/>
              </a:rPr>
              <a:t>-21.2%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3008" y="2212848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B8C8E0"/>
                </a:solidFill>
                <a:latin typeface="Calibri"/>
              </a:rPr>
              <a:t>vs market -50.8%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17336" y="1371600"/>
            <a:ext cx="2514600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17336" y="1371600"/>
            <a:ext cx="73152" cy="1143000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00216" y="1481328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C9A96E"/>
                </a:solidFill>
                <a:latin typeface="Calibri"/>
              </a:rPr>
              <a:t>MARKET BETA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0216" y="1700784"/>
            <a:ext cx="2240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Georgia"/>
              </a:rPr>
              <a:t>0.64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0216" y="2212848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B8C8E0"/>
                </a:solidFill>
                <a:latin typeface="Calibri"/>
              </a:rPr>
              <a:t>low net exposure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24544" y="1371600"/>
            <a:ext cx="2514600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924544" y="1371600"/>
            <a:ext cx="73152" cy="1143000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07424" y="1481328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C9A96E"/>
                </a:solidFill>
                <a:latin typeface="Calibri"/>
              </a:rPr>
              <a:t>SORTINO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07424" y="1700784"/>
            <a:ext cx="2240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Georgia"/>
              </a:rPr>
              <a:t>1.74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07424" y="2212848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B8C8E0"/>
                </a:solidFill>
                <a:latin typeface="Calibri"/>
              </a:rPr>
              <a:t>downside-adjusted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2926080"/>
            <a:ext cx="111556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50" b="1">
                <a:solidFill>
                  <a:srgbClr val="C9A96E"/>
                </a:solidFill>
                <a:latin typeface="Calibri"/>
              </a:rPr>
              <a:t>▪  </a:t>
            </a:r>
            <a:r>
              <a:rPr sz="1350" b="1">
                <a:solidFill>
                  <a:srgbClr val="0B1F3A"/>
                </a:solidFill>
                <a:latin typeface="Calibri"/>
              </a:rPr>
              <a:t>Primary control — the macro overlay: </a:t>
            </a:r>
            <a:r>
              <a:rPr sz="1350">
                <a:solidFill>
                  <a:srgbClr val="222A38"/>
                </a:solidFill>
                <a:latin typeface="Calibri"/>
              </a:rPr>
              <a:t>de-grosses to as low as 30% equities in stress; this is what produces the −21% drawdown vs the market's −46/−50%.</a:t>
            </a:r>
          </a:p>
          <a:p>
            <a:pPr>
              <a:spcAft>
                <a:spcPts val="900"/>
              </a:spcAft>
            </a:pPr>
            <a:r>
              <a:rPr sz="1350" b="1">
                <a:solidFill>
                  <a:srgbClr val="C9A96E"/>
                </a:solidFill>
                <a:latin typeface="Calibri"/>
              </a:rPr>
              <a:t>▪  </a:t>
            </a:r>
            <a:r>
              <a:rPr sz="1350" b="1">
                <a:solidFill>
                  <a:srgbClr val="0B1F3A"/>
                </a:solidFill>
                <a:latin typeface="Calibri"/>
              </a:rPr>
              <a:t>Factor discipline: </a:t>
            </a:r>
            <a:r>
              <a:rPr sz="1350">
                <a:solidFill>
                  <a:srgbClr val="222A38"/>
                </a:solidFill>
                <a:latin typeface="Calibri"/>
              </a:rPr>
              <a:t>controlled exposures (market β 0.64, momentum +0.26); alpha measured against FF5+Momentum with Newey-West standard errors.</a:t>
            </a:r>
          </a:p>
          <a:p>
            <a:pPr>
              <a:spcAft>
                <a:spcPts val="900"/>
              </a:spcAft>
            </a:pPr>
            <a:r>
              <a:rPr sz="1350" b="1">
                <a:solidFill>
                  <a:srgbClr val="C9A96E"/>
                </a:solidFill>
                <a:latin typeface="Calibri"/>
              </a:rPr>
              <a:t>▪  </a:t>
            </a:r>
            <a:r>
              <a:rPr sz="1350" b="1">
                <a:solidFill>
                  <a:srgbClr val="0B1F3A"/>
                </a:solidFill>
                <a:latin typeface="Calibri"/>
              </a:rPr>
              <a:t>Diversification &amp; limits: </a:t>
            </a:r>
            <a:r>
              <a:rPr sz="1350">
                <a:solidFill>
                  <a:srgbClr val="222A38"/>
                </a:solidFill>
                <a:latin typeface="Calibri"/>
              </a:rPr>
              <a:t>~125 names, 11 sectors, ~1%% single-name cap, no leverage, no shorting — failure of any one name is immaterial.</a:t>
            </a:r>
          </a:p>
          <a:p>
            <a:pPr>
              <a:spcAft>
                <a:spcPts val="900"/>
              </a:spcAft>
            </a:pPr>
            <a:r>
              <a:rPr sz="1350" b="1">
                <a:solidFill>
                  <a:srgbClr val="C9A96E"/>
                </a:solidFill>
                <a:latin typeface="Calibri"/>
              </a:rPr>
              <a:t>▪  </a:t>
            </a:r>
            <a:r>
              <a:rPr sz="1350" b="1">
                <a:solidFill>
                  <a:srgbClr val="0B1F3A"/>
                </a:solidFill>
                <a:latin typeface="Calibri"/>
              </a:rPr>
              <a:t>Defensive convexity: </a:t>
            </a:r>
            <a:r>
              <a:rPr sz="1350">
                <a:solidFill>
                  <a:srgbClr val="222A38"/>
                </a:solidFill>
                <a:latin typeface="Calibri"/>
              </a:rPr>
              <a:t>the risk-off sleeve (Treasuries + gold) tends to rise when equities fall, cushioning crises further.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Back-test results (simulated, 2002–2026)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786384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9A96E"/>
                </a:solidFill>
                <a:latin typeface="Calibri"/>
              </a:rPr>
              <a:t>SIMULATED · NET OF 15 BPS COSTS · GROSS OF FEES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41148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>
                <a:solidFill>
                  <a:srgbClr val="C9A96E"/>
                </a:solidFill>
                <a:latin typeface="Calibri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A6F8C"/>
                </a:solidFill>
                <a:latin typeface="Calibri"/>
              </a:rPr>
              <a:t>GSD2T ASSET MANAGEMENT · SIMULATED / FICTIONAL PITCH</a:t>
            </a:r>
          </a:p>
        </p:txBody>
      </p:sp>
      <p:pic>
        <p:nvPicPr>
          <p:cNvPr id="9" name="Picture 8" descr="fig_deck_equ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766560" cy="38284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06640" y="1371600"/>
            <a:ext cx="4297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B1F3A"/>
                </a:solidFill>
                <a:latin typeface="Calibri"/>
              </a:rPr>
              <a:t>PERFORMANCE SUMMARY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406640" y="1783080"/>
          <a:ext cx="4297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5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95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05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T="25400" marB="2540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CAGR</a:t>
                      </a:r>
                    </a:p>
                  </a:txBody>
                  <a:tcPr marT="25400" marB="2540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Shrp</a:t>
                      </a:r>
                    </a:p>
                  </a:txBody>
                  <a:tcPr marT="25400" marB="2540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MaxDD</a:t>
                      </a:r>
                    </a:p>
                  </a:txBody>
                  <a:tcPr marT="25400" marB="25400"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B1F3A"/>
                          </a:solidFill>
                          <a:latin typeface="Calibri"/>
                        </a:rPr>
                        <a:t>Fund (full)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B1F3A"/>
                          </a:solidFill>
                          <a:latin typeface="Calibri"/>
                        </a:rPr>
                        <a:t>14.9%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B1F3A"/>
                          </a:solidFill>
                          <a:latin typeface="Calibri"/>
                        </a:rPr>
                        <a:t>1.15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B1F3A"/>
                          </a:solidFill>
                          <a:latin typeface="Calibri"/>
                        </a:rPr>
                        <a:t>-21.2%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B1F3A"/>
                          </a:solidFill>
                          <a:latin typeface="Calibri"/>
                        </a:rPr>
                        <a:t>In-sample</a:t>
                      </a:r>
                    </a:p>
                  </a:txBody>
                  <a:tcPr marT="12700" marB="12700">
                    <a:solidFill>
                      <a:srgbClr val="F5F2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B1F3A"/>
                          </a:solidFill>
                          <a:latin typeface="Calibri"/>
                        </a:rPr>
                        <a:t>14.7%</a:t>
                      </a:r>
                    </a:p>
                  </a:txBody>
                  <a:tcPr marT="12700" marB="12700">
                    <a:solidFill>
                      <a:srgbClr val="F5F2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B1F3A"/>
                          </a:solidFill>
                          <a:latin typeface="Calibri"/>
                        </a:rPr>
                        <a:t>1.16</a:t>
                      </a:r>
                    </a:p>
                  </a:txBody>
                  <a:tcPr marT="12700" marB="12700">
                    <a:solidFill>
                      <a:srgbClr val="F5F2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B1F3A"/>
                          </a:solidFill>
                          <a:latin typeface="Calibri"/>
                        </a:rPr>
                        <a:t>-21.2%</a:t>
                      </a:r>
                    </a:p>
                  </a:txBody>
                  <a:tcPr marT="12700" marB="12700">
                    <a:solidFill>
                      <a:srgbClr val="F5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B1F3A"/>
                          </a:solidFill>
                          <a:latin typeface="Calibri"/>
                        </a:rPr>
                        <a:t>Out-of-sample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B1F3A"/>
                          </a:solidFill>
                          <a:latin typeface="Calibri"/>
                        </a:rPr>
                        <a:t>15.2%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B1F3A"/>
                          </a:solidFill>
                          <a:latin typeface="Calibri"/>
                        </a:rPr>
                        <a:t>1.14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B1F3A"/>
                          </a:solidFill>
                          <a:latin typeface="Calibri"/>
                        </a:rPr>
                        <a:t>-18.7%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B1F3A"/>
                          </a:solidFill>
                          <a:latin typeface="Calibri"/>
                        </a:rPr>
                        <a:t>S&amp;P 500</a:t>
                      </a:r>
                    </a:p>
                  </a:txBody>
                  <a:tcPr marT="12700" marB="12700">
                    <a:solidFill>
                      <a:srgbClr val="F5F2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B1F3A"/>
                          </a:solidFill>
                          <a:latin typeface="Calibri"/>
                        </a:rPr>
                        <a:t>10.0%</a:t>
                      </a:r>
                    </a:p>
                  </a:txBody>
                  <a:tcPr marT="12700" marB="12700">
                    <a:solidFill>
                      <a:srgbClr val="F5F2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B1F3A"/>
                          </a:solidFill>
                          <a:latin typeface="Calibri"/>
                        </a:rPr>
                        <a:t>0.65</a:t>
                      </a:r>
                    </a:p>
                  </a:txBody>
                  <a:tcPr marT="12700" marB="12700">
                    <a:solidFill>
                      <a:srgbClr val="F5F2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dirty="0">
                          <a:solidFill>
                            <a:srgbClr val="0B1F3A"/>
                          </a:solidFill>
                          <a:latin typeface="Calibri"/>
                        </a:rPr>
                        <a:t>-50.8%</a:t>
                      </a:r>
                    </a:p>
                  </a:txBody>
                  <a:tcPr marT="12700" marB="12700">
                    <a:solidFill>
                      <a:srgbClr val="F5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406640" y="4242816"/>
            <a:ext cx="42976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dirty="0">
                <a:solidFill>
                  <a:srgbClr val="2E7D5B"/>
                </a:solidFill>
                <a:latin typeface="Calibri"/>
              </a:rPr>
              <a:t>Alpha +6.3% / yr (t=4.8)</a:t>
            </a:r>
          </a:p>
          <a:p>
            <a:pPr algn="l">
              <a:spcAft>
                <a:spcPts val="400"/>
              </a:spcAft>
            </a:pPr>
            <a:r>
              <a:rPr sz="1300" b="0" dirty="0">
                <a:solidFill>
                  <a:srgbClr val="5A6F8C"/>
                </a:solidFill>
                <a:latin typeface="Calibri"/>
              </a:rPr>
              <a:t>vs FF5+Momentum, Newey-West SEs.</a:t>
            </a:r>
          </a:p>
          <a:p>
            <a:pPr algn="l">
              <a:spcAft>
                <a:spcPts val="400"/>
              </a:spcAft>
            </a:pPr>
            <a:r>
              <a:rPr sz="1300" b="0" dirty="0">
                <a:solidFill>
                  <a:srgbClr val="5A6F8C"/>
                </a:solidFill>
                <a:latin typeface="Calibri"/>
              </a:rPr>
              <a:t> </a:t>
            </a:r>
          </a:p>
          <a:p>
            <a:pPr algn="l">
              <a:spcAft>
                <a:spcPts val="400"/>
              </a:spcAft>
            </a:pPr>
            <a:r>
              <a:rPr sz="1300" b="0" dirty="0">
                <a:solidFill>
                  <a:srgbClr val="0B1F3A"/>
                </a:solidFill>
                <a:latin typeface="Calibri"/>
              </a:rPr>
              <a:t>Out-of-sample Sharpe (1.14) ≥ in-sample (1.16): no overfitting decay.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893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A6F8C"/>
                </a:solidFill>
                <a:latin typeface="Calibri"/>
              </a:rPr>
              <a:t>Label: all figures SIMULATED on historical data; no live or paper track record is shown.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Back-test honesty — the red-flag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786384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9A96E"/>
                </a:solidFill>
                <a:latin typeface="Calibri"/>
              </a:rPr>
              <a:t>BACK-TEST HONESTY (25 PTS)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41148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>
                <a:solidFill>
                  <a:srgbClr val="C9A96E"/>
                </a:solidFill>
                <a:latin typeface="Calibri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A6F8C"/>
                </a:solidFill>
                <a:latin typeface="Calibri"/>
              </a:rPr>
              <a:t>GSD2T ASSET MANAGEMENT · SIMULATED / FICTIONAL PITCH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417320"/>
          <a:ext cx="11155678" cy="37124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467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08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0351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Common red flag</a:t>
                      </a:r>
                    </a:p>
                  </a:txBody>
                  <a:tcPr marT="25400" marB="2540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How we handle it</a:t>
                      </a:r>
                    </a:p>
                  </a:txBody>
                  <a:tcPr marT="25400" marB="25400"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1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B1F3A"/>
                          </a:solidFill>
                          <a:latin typeface="Calibri"/>
                        </a:rPr>
                        <a:t>Survivorship bias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B1F3A"/>
                          </a:solidFill>
                          <a:latin typeface="Calibri"/>
                        </a:rPr>
                        <a:t>Measured on Bloomberg point-in-time S&amp;P 500 (1,085 names incl. delisted): only ~1.0%/yr — quantified, not assumed.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1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B1F3A"/>
                          </a:solidFill>
                          <a:latin typeface="Calibri"/>
                        </a:rPr>
                        <a:t>Look-ahead</a:t>
                      </a:r>
                    </a:p>
                  </a:txBody>
                  <a:tcPr marT="12700" marB="12700">
                    <a:solidFill>
                      <a:srgbClr val="F5F2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B1F3A"/>
                          </a:solidFill>
                          <a:latin typeface="Calibri"/>
                        </a:rPr>
                        <a:t>All signals lagged ≥1 month; trailing-only z-scores; 2000–01 reserved as warm-up.</a:t>
                      </a:r>
                    </a:p>
                  </a:txBody>
                  <a:tcPr marT="12700" marB="12700">
                    <a:solidFill>
                      <a:srgbClr val="F5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1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B1F3A"/>
                          </a:solidFill>
                          <a:latin typeface="Calibri"/>
                        </a:rPr>
                        <a:t>No transaction costs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B1F3A"/>
                          </a:solidFill>
                          <a:latin typeface="Calibri"/>
                        </a:rPr>
                        <a:t>15 bps round-trip on all turnover; every figure is net of costs.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1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B1F3A"/>
                          </a:solidFill>
                          <a:latin typeface="Calibri"/>
                        </a:rPr>
                        <a:t>Overfitting</a:t>
                      </a:r>
                    </a:p>
                  </a:txBody>
                  <a:tcPr marT="12700" marB="12700">
                    <a:solidFill>
                      <a:srgbClr val="F5F2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B1F3A"/>
                          </a:solidFill>
                          <a:latin typeface="Calibri"/>
                        </a:rPr>
                        <a:t>Train/test split (2002–15 vs 2016–26); OOS Sharpe ≥ IS; standard enhancements tested and rejected.</a:t>
                      </a:r>
                    </a:p>
                  </a:txBody>
                  <a:tcPr marT="12700" marB="12700">
                    <a:solidFill>
                      <a:srgbClr val="F5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1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B1F3A"/>
                          </a:solidFill>
                          <a:latin typeface="Calibri"/>
                        </a:rPr>
                        <a:t>Sharpe too good / undisclosed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B1F3A"/>
                          </a:solidFill>
                          <a:latin typeface="Calibri"/>
                        </a:rPr>
                        <a:t>Sharpe 1.15 with full methodology; deflated-Sharpe and factor regression in the appendix.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7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B1F3A"/>
                          </a:solidFill>
                          <a:latin typeface="Calibri"/>
                        </a:rPr>
                        <a:t>Simulated vs live mislabelled</a:t>
                      </a:r>
                    </a:p>
                  </a:txBody>
                  <a:tcPr marT="12700" marB="12700">
                    <a:solidFill>
                      <a:srgbClr val="F5F2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B1F3A"/>
                          </a:solidFill>
                          <a:latin typeface="Calibri"/>
                        </a:rPr>
                        <a:t>Everything is labelled SIMULATED; the fund is fictional.</a:t>
                      </a:r>
                    </a:p>
                  </a:txBody>
                  <a:tcPr marT="12700" marB="12700">
                    <a:solidFill>
                      <a:srgbClr val="F5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Stress tests — behaviour in every major crisis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786384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9A96E"/>
                </a:solidFill>
                <a:latin typeface="Calibri"/>
              </a:rPr>
              <a:t>RISK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41148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>
                <a:solidFill>
                  <a:srgbClr val="C9A96E"/>
                </a:solidFill>
                <a:latin typeface="Calibri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A6F8C"/>
                </a:solidFill>
                <a:latin typeface="Calibri"/>
              </a:rPr>
              <a:t>GSD2T ASSET MANAGEMENT · SIMULATED / FICTIONAL PITCH</a:t>
            </a:r>
          </a:p>
        </p:txBody>
      </p:sp>
      <p:pic>
        <p:nvPicPr>
          <p:cNvPr id="9" name="Picture 8" descr="fig_deck_str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858000" cy="360947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98079" y="1554480"/>
            <a:ext cx="4206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C9A96E"/>
                </a:solidFill>
                <a:latin typeface="Calibri"/>
              </a:rPr>
              <a:t>▪  </a:t>
            </a:r>
            <a:r>
              <a:rPr sz="1300" b="1">
                <a:solidFill>
                  <a:srgbClr val="0B1F3A"/>
                </a:solidFill>
                <a:latin typeface="Calibri"/>
              </a:rPr>
              <a:t>The pattern: </a:t>
            </a:r>
            <a:r>
              <a:rPr sz="1300">
                <a:solidFill>
                  <a:srgbClr val="222A38"/>
                </a:solidFill>
                <a:latin typeface="Calibri"/>
              </a:rPr>
              <a:t>in every major drawdown the overlay de-grosses and the defensive sleeve cushions, so we fall far less than the market.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C9A96E"/>
                </a:solidFill>
                <a:latin typeface="Calibri"/>
              </a:rPr>
              <a:t>▪  </a:t>
            </a:r>
            <a:r>
              <a:rPr sz="1300" b="1">
                <a:solidFill>
                  <a:srgbClr val="0B1F3A"/>
                </a:solidFill>
                <a:latin typeface="Calibri"/>
              </a:rPr>
              <a:t>GFC &amp; COVID: </a:t>
            </a:r>
            <a:r>
              <a:rPr sz="1300">
                <a:solidFill>
                  <a:srgbClr val="222A38"/>
                </a:solidFill>
                <a:latin typeface="Calibri"/>
              </a:rPr>
              <a:t>the largest gaps — exactly when capital preservation matters most.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C9A96E"/>
                </a:solidFill>
                <a:latin typeface="Calibri"/>
              </a:rPr>
              <a:t>▪  </a:t>
            </a:r>
            <a:r>
              <a:rPr sz="1300" b="1">
                <a:solidFill>
                  <a:srgbClr val="0B1F3A"/>
                </a:solidFill>
                <a:latin typeface="Calibri"/>
              </a:rPr>
              <a:t>2022: </a:t>
            </a:r>
            <a:r>
              <a:rPr sz="1300">
                <a:solidFill>
                  <a:srgbClr val="222A38"/>
                </a:solidFill>
                <a:latin typeface="Calibri"/>
              </a:rPr>
              <a:t>bonds and stocks fell together; we disclose this regime risk, yet the out-of-sample period (incl. 2022) still beats the market.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Robustness — we tried to break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786384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9A96E"/>
                </a:solidFill>
                <a:latin typeface="Calibri"/>
              </a:rPr>
              <a:t>RESEARCH PROCESS · ANTI-OVERFITTING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41148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>
                <a:solidFill>
                  <a:srgbClr val="C9A96E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A6F8C"/>
                </a:solidFill>
                <a:latin typeface="Calibri"/>
              </a:rPr>
              <a:t>GSD2T ASSET MANAGEMENT · SIMULATED / FICTIONAL PITCH</a:t>
            </a:r>
          </a:p>
        </p:txBody>
      </p:sp>
      <p:pic>
        <p:nvPicPr>
          <p:cNvPr id="9" name="Picture 8" descr="fig_bak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0"/>
            <a:ext cx="6858000" cy="37147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52360" y="1508760"/>
            <a:ext cx="4297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300" b="1">
                <a:solidFill>
                  <a:srgbClr val="C9A96E"/>
                </a:solidFill>
                <a:latin typeface="Calibri"/>
              </a:rPr>
              <a:t>▪  </a:t>
            </a:r>
            <a:r>
              <a:rPr sz="1300" b="1">
                <a:solidFill>
                  <a:srgbClr val="0B1F3A"/>
                </a:solidFill>
                <a:latin typeface="Calibri"/>
              </a:rPr>
              <a:t>Parameter stability: </a:t>
            </a:r>
            <a:r>
              <a:rPr sz="1300">
                <a:solidFill>
                  <a:srgbClr val="222A38"/>
                </a:solidFill>
                <a:latin typeface="Calibri"/>
              </a:rPr>
              <a:t>Sharpe 0.97–1.04 across 15 lookback × quantile settings — a plateau, not a spike.</a:t>
            </a:r>
          </a:p>
          <a:p>
            <a:pPr>
              <a:spcAft>
                <a:spcPts val="1100"/>
              </a:spcAft>
            </a:pPr>
            <a:r>
              <a:rPr sz="1300" b="1">
                <a:solidFill>
                  <a:srgbClr val="C9A96E"/>
                </a:solidFill>
                <a:latin typeface="Calibri"/>
              </a:rPr>
              <a:t>▪  </a:t>
            </a:r>
            <a:r>
              <a:rPr sz="1300" b="1">
                <a:solidFill>
                  <a:srgbClr val="0B1F3A"/>
                </a:solidFill>
                <a:latin typeface="Calibri"/>
              </a:rPr>
              <a:t>Enhancements tested: </a:t>
            </a:r>
            <a:r>
              <a:rPr sz="1300">
                <a:solidFill>
                  <a:srgbClr val="222A38"/>
                </a:solidFill>
                <a:latin typeface="Calibri"/>
              </a:rPr>
              <a:t>risk-managed momentum, vol targeting, low-beta and quality tilts — none beat the simple design out-of-sample.</a:t>
            </a:r>
          </a:p>
          <a:p>
            <a:pPr>
              <a:spcAft>
                <a:spcPts val="1100"/>
              </a:spcAft>
            </a:pPr>
            <a:r>
              <a:rPr sz="1300" b="1">
                <a:solidFill>
                  <a:srgbClr val="C9A96E"/>
                </a:solidFill>
                <a:latin typeface="Calibri"/>
              </a:rPr>
              <a:t>▪  </a:t>
            </a:r>
            <a:r>
              <a:rPr sz="1300" b="1">
                <a:solidFill>
                  <a:srgbClr val="0B1F3A"/>
                </a:solidFill>
                <a:latin typeface="Calibri"/>
              </a:rPr>
              <a:t>Discipline: </a:t>
            </a:r>
            <a:r>
              <a:rPr sz="1300">
                <a:solidFill>
                  <a:srgbClr val="222A38"/>
                </a:solidFill>
                <a:latin typeface="Calibri"/>
              </a:rPr>
              <a:t>we kept it simple by evidence, not by default. Complexity that overfits in-sample was rejected.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Capacity — the $100M fits many times 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786384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9A96E"/>
                </a:solidFill>
                <a:latin typeface="Calibri"/>
              </a:rPr>
              <a:t>CAPACITY (QUANT BASIS)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41148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>
                <a:solidFill>
                  <a:srgbClr val="C9A96E"/>
                </a:solidFill>
                <a:latin typeface="Calibr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A6F8C"/>
                </a:solidFill>
                <a:latin typeface="Calibri"/>
              </a:rPr>
              <a:t>GSD2T ASSET MANAGEMENT · SIMULATED / FICTIONAL PITCH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463040"/>
            <a:ext cx="2514600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463040"/>
            <a:ext cx="73152" cy="1143000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572768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C9A96E"/>
                </a:solidFill>
                <a:latin typeface="Calibri"/>
              </a:rPr>
              <a:t>RAISE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792224"/>
            <a:ext cx="2240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Georgia"/>
              </a:rPr>
              <a:t>$100M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304288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B8C8E0"/>
                </a:solidFill>
                <a:latin typeface="Calibri"/>
              </a:rPr>
              <a:t>the commitment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0128" y="1463040"/>
            <a:ext cx="2514600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10128" y="1463040"/>
            <a:ext cx="73152" cy="1143000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93008" y="1572768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C9A96E"/>
                </a:solidFill>
                <a:latin typeface="Calibri"/>
              </a:rPr>
              <a:t>SOFT CAPACITY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93008" y="1792224"/>
            <a:ext cx="2240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Georgia"/>
              </a:rPr>
              <a:t>$3.3–5.6B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3008" y="2304288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B8C8E0"/>
                </a:solidFill>
                <a:latin typeface="Calibri"/>
              </a:rPr>
              <a:t>strategy-level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17336" y="1463040"/>
            <a:ext cx="2514600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17336" y="1463040"/>
            <a:ext cx="73152" cy="1143000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00216" y="1572768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C9A96E"/>
                </a:solidFill>
                <a:latin typeface="Calibri"/>
              </a:rPr>
              <a:t>HEADROOM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0216" y="1792224"/>
            <a:ext cx="2240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Georgia"/>
              </a:rPr>
              <a:t>33–56×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0216" y="2304288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B8C8E0"/>
                </a:solidFill>
                <a:latin typeface="Calibri"/>
              </a:rPr>
              <a:t>vs the raise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24544" y="1463040"/>
            <a:ext cx="2514600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924544" y="1463040"/>
            <a:ext cx="73152" cy="1143000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07424" y="1572768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C9A96E"/>
                </a:solidFill>
                <a:latin typeface="Calibri"/>
              </a:rPr>
              <a:t>USED AT RAISE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07424" y="1792224"/>
            <a:ext cx="2240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Georgia"/>
              </a:rPr>
              <a:t>~2%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07424" y="2304288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B8C8E0"/>
                </a:solidFill>
                <a:latin typeface="Calibri"/>
              </a:rPr>
              <a:t>of capacity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3017520"/>
            <a:ext cx="11155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C9A96E"/>
                </a:solidFill>
                <a:latin typeface="Calibri"/>
              </a:rPr>
              <a:t>▪  </a:t>
            </a:r>
            <a:r>
              <a:rPr sz="1400" b="1">
                <a:solidFill>
                  <a:srgbClr val="0B1F3A"/>
                </a:solidFill>
                <a:latin typeface="Calibri"/>
              </a:rPr>
              <a:t>Basis: </a:t>
            </a:r>
            <a:r>
              <a:rPr sz="1400">
                <a:solidFill>
                  <a:srgbClr val="222A38"/>
                </a:solidFill>
                <a:latin typeface="Calibri"/>
              </a:rPr>
              <a:t>5% of average daily volume over 2 days per name, across ~125 large-cap holdings; ADV assumed $300M (conservative) to $500M (base) ADV per name.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C9A96E"/>
                </a:solidFill>
                <a:latin typeface="Calibri"/>
              </a:rPr>
              <a:t>▪  </a:t>
            </a:r>
            <a:r>
              <a:rPr sz="1400" b="1">
                <a:solidFill>
                  <a:srgbClr val="0B1F3A"/>
                </a:solidFill>
                <a:latin typeface="Calibri"/>
              </a:rPr>
              <a:t>Implication: </a:t>
            </a:r>
            <a:r>
              <a:rPr sz="1400">
                <a:solidFill>
                  <a:srgbClr val="222A38"/>
                </a:solidFill>
                <a:latin typeface="Calibri"/>
              </a:rPr>
              <a:t>the full $100M deploys immediately in daily-liquid names; we never approach our own market impact.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C9A96E"/>
                </a:solidFill>
                <a:latin typeface="Calibri"/>
              </a:rPr>
              <a:t>▪  </a:t>
            </a:r>
            <a:r>
              <a:rPr sz="1400" b="1">
                <a:solidFill>
                  <a:srgbClr val="0B1F3A"/>
                </a:solidFill>
                <a:latin typeface="Calibri"/>
              </a:rPr>
              <a:t>Defensive sleeve: </a:t>
            </a:r>
            <a:r>
              <a:rPr sz="1400">
                <a:solidFill>
                  <a:srgbClr val="222A38"/>
                </a:solidFill>
                <a:latin typeface="Calibri"/>
              </a:rPr>
              <a:t>held in the most liquid ETFs on earth (Treasuries, gold) — no capacity constraint.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Fund structure &amp; terms — aligned with liquidity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786384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9A96E"/>
                </a:solidFill>
                <a:latin typeface="Calibri"/>
              </a:rPr>
              <a:t>FUND STRUCTURE &amp; TERMS (10 PTS)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41148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>
                <a:solidFill>
                  <a:srgbClr val="C9A96E"/>
                </a:solidFill>
                <a:latin typeface="Calibr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A6F8C"/>
                </a:solidFill>
                <a:latin typeface="Calibri"/>
              </a:rPr>
              <a:t>GSD2T ASSET MANAGEMENT · SIMULATED / FICTIONAL PITCH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3258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B1F3A"/>
                </a:solidFill>
                <a:latin typeface="Calibri"/>
              </a:rPr>
              <a:t>TERMS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737360"/>
          <a:ext cx="5486399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7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485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Term</a:t>
                      </a:r>
                    </a:p>
                  </a:txBody>
                  <a:tcPr marT="25400" marB="2540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we charge</a:t>
                      </a:r>
                    </a:p>
                  </a:txBody>
                  <a:tcPr marT="25400" marB="25400"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B1F3A"/>
                          </a:solidFill>
                          <a:latin typeface="Calibri"/>
                        </a:rPr>
                        <a:t>Management fee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B1F3A"/>
                          </a:solidFill>
                          <a:latin typeface="Calibri"/>
                        </a:rPr>
                        <a:t>1.0% per annum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B1F3A"/>
                          </a:solidFill>
                          <a:latin typeface="Calibri"/>
                        </a:rPr>
                        <a:t>Performance fee</a:t>
                      </a:r>
                    </a:p>
                  </a:txBody>
                  <a:tcPr marT="12700" marB="12700">
                    <a:solidFill>
                      <a:srgbClr val="F5F2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B1F3A"/>
                          </a:solidFill>
                          <a:latin typeface="Calibri"/>
                        </a:rPr>
                        <a:t>15% of return ABOVE the S&amp;P 500</a:t>
                      </a:r>
                    </a:p>
                  </a:txBody>
                  <a:tcPr marT="12700" marB="12700">
                    <a:solidFill>
                      <a:srgbClr val="F5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B1F3A"/>
                          </a:solidFill>
                          <a:latin typeface="Calibri"/>
                        </a:rPr>
                        <a:t>High-water mark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B1F3A"/>
                          </a:solidFill>
                          <a:latin typeface="Calibri"/>
                        </a:rPr>
                        <a:t>Yes (relative to benchmark)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B1F3A"/>
                          </a:solidFill>
                          <a:latin typeface="Calibri"/>
                        </a:rPr>
                        <a:t>Liquidity</a:t>
                      </a:r>
                    </a:p>
                  </a:txBody>
                  <a:tcPr marT="12700" marB="12700">
                    <a:solidFill>
                      <a:srgbClr val="F5F2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B1F3A"/>
                          </a:solidFill>
                          <a:latin typeface="Calibri"/>
                        </a:rPr>
                        <a:t>Monthly, no lock-up</a:t>
                      </a:r>
                    </a:p>
                  </a:txBody>
                  <a:tcPr marT="12700" marB="12700">
                    <a:solidFill>
                      <a:srgbClr val="F5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B1F3A"/>
                          </a:solidFill>
                          <a:latin typeface="Calibri"/>
                        </a:rPr>
                        <a:t>Crystallisation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B1F3A"/>
                          </a:solidFill>
                          <a:latin typeface="Calibri"/>
                        </a:rPr>
                        <a:t>Annual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63640" y="13258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B1F3A"/>
                </a:solidFill>
                <a:latin typeface="Calibri"/>
              </a:rPr>
              <a:t>WHAT THE INVESTOR RECEIVES (NET)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63640" y="1737360"/>
          <a:ext cx="5486398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83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2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26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26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T="25400" marB="2540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CAGR</a:t>
                      </a:r>
                    </a:p>
                  </a:txBody>
                  <a:tcPr marT="25400" marB="2540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Sharpe</a:t>
                      </a:r>
                    </a:p>
                  </a:txBody>
                  <a:tcPr marT="25400" marB="2540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MaxDD</a:t>
                      </a:r>
                    </a:p>
                  </a:txBody>
                  <a:tcPr marT="25400" marB="25400"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B1F3A"/>
                          </a:solidFill>
                          <a:latin typeface="Calibri"/>
                        </a:rPr>
                        <a:t>Gross strategy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B1F3A"/>
                          </a:solidFill>
                          <a:latin typeface="Calibri"/>
                        </a:rPr>
                        <a:t>14.9%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B1F3A"/>
                          </a:solidFill>
                          <a:latin typeface="Calibri"/>
                        </a:rPr>
                        <a:t>1.15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B1F3A"/>
                          </a:solidFill>
                          <a:latin typeface="Calibri"/>
                        </a:rPr>
                        <a:t>-21.2%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B1F3A"/>
                          </a:solidFill>
                          <a:latin typeface="Calibri"/>
                        </a:rPr>
                        <a:t>NET to investor</a:t>
                      </a:r>
                    </a:p>
                  </a:txBody>
                  <a:tcPr marT="12700" marB="12700">
                    <a:solidFill>
                      <a:srgbClr val="F5F2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B1F3A"/>
                          </a:solidFill>
                          <a:latin typeface="Calibri"/>
                        </a:rPr>
                        <a:t>13.1%</a:t>
                      </a:r>
                    </a:p>
                  </a:txBody>
                  <a:tcPr marT="12700" marB="12700">
                    <a:solidFill>
                      <a:srgbClr val="F5F2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B1F3A"/>
                          </a:solidFill>
                          <a:latin typeface="Calibri"/>
                        </a:rPr>
                        <a:t>1.02</a:t>
                      </a:r>
                    </a:p>
                  </a:txBody>
                  <a:tcPr marT="12700" marB="12700">
                    <a:solidFill>
                      <a:srgbClr val="F5F2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B1F3A"/>
                          </a:solidFill>
                          <a:latin typeface="Calibri"/>
                        </a:rPr>
                        <a:t>-23.5%</a:t>
                      </a:r>
                    </a:p>
                  </a:txBody>
                  <a:tcPr marT="12700" marB="12700">
                    <a:solidFill>
                      <a:srgbClr val="F5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B1F3A"/>
                          </a:solidFill>
                          <a:latin typeface="Calibri"/>
                        </a:rPr>
                        <a:t>S&amp;P 500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B1F3A"/>
                          </a:solidFill>
                          <a:latin typeface="Calibri"/>
                        </a:rPr>
                        <a:t>10.0%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B1F3A"/>
                          </a:solidFill>
                          <a:latin typeface="Calibri"/>
                        </a:rPr>
                        <a:t>0.65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B1F3A"/>
                          </a:solidFill>
                          <a:latin typeface="Calibri"/>
                        </a:rPr>
                        <a:t>-50.8%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02920" y="4023360"/>
            <a:ext cx="11155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50" b="1">
                <a:solidFill>
                  <a:srgbClr val="C9A96E"/>
                </a:solidFill>
                <a:latin typeface="Calibri"/>
              </a:rPr>
              <a:t>▪  </a:t>
            </a:r>
            <a:r>
              <a:rPr sz="1350" b="1">
                <a:solidFill>
                  <a:srgbClr val="0B1F3A"/>
                </a:solidFill>
                <a:latin typeface="Calibri"/>
              </a:rPr>
              <a:t>Why not 2/20: </a:t>
            </a:r>
            <a:r>
              <a:rPr sz="1350">
                <a:solidFill>
                  <a:srgbClr val="222A38"/>
                </a:solidFill>
                <a:latin typeface="Calibri"/>
              </a:rPr>
              <a:t>the strategy is daily-liquid and partly factor-replicable, so we charge below hedge-fund terms.</a:t>
            </a:r>
          </a:p>
          <a:p>
            <a:pPr>
              <a:spcAft>
                <a:spcPts val="900"/>
              </a:spcAft>
            </a:pPr>
            <a:r>
              <a:rPr sz="1350" b="1">
                <a:solidFill>
                  <a:srgbClr val="C9A96E"/>
                </a:solidFill>
                <a:latin typeface="Calibri"/>
              </a:rPr>
              <a:t>▪  </a:t>
            </a:r>
            <a:r>
              <a:rPr sz="1350" b="1">
                <a:solidFill>
                  <a:srgbClr val="0B1F3A"/>
                </a:solidFill>
                <a:latin typeface="Calibri"/>
              </a:rPr>
              <a:t>Benchmark-relative performance fee: </a:t>
            </a:r>
            <a:r>
              <a:rPr sz="1350">
                <a:solidFill>
                  <a:srgbClr val="222A38"/>
                </a:solidFill>
                <a:latin typeface="Calibri"/>
              </a:rPr>
              <a:t>we are paid only on return ABOVE the S&amp;P 500 — not on market beta you can buy for 5 bps.</a:t>
            </a:r>
          </a:p>
          <a:p>
            <a:pPr>
              <a:spcAft>
                <a:spcPts val="900"/>
              </a:spcAft>
            </a:pPr>
            <a:r>
              <a:rPr sz="1350" b="1">
                <a:solidFill>
                  <a:srgbClr val="C9A96E"/>
                </a:solidFill>
                <a:latin typeface="Calibri"/>
              </a:rPr>
              <a:t>▪  </a:t>
            </a:r>
            <a:r>
              <a:rPr sz="1350" b="1">
                <a:solidFill>
                  <a:srgbClr val="0B1F3A"/>
                </a:solidFill>
                <a:latin typeface="Calibri"/>
              </a:rPr>
              <a:t>Net of all fees: </a:t>
            </a:r>
            <a:r>
              <a:rPr sz="1350">
                <a:solidFill>
                  <a:srgbClr val="222A38"/>
                </a:solidFill>
                <a:latin typeface="Calibri"/>
              </a:rPr>
              <a:t>the investor still earns 13.1% vs the market's 10.0%, at higher Sharpe and ~half the drawdown.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Why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786384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9A96E"/>
                </a:solidFill>
                <a:latin typeface="Calibri"/>
              </a:rPr>
              <a:t>WHY 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41148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>
                <a:solidFill>
                  <a:srgbClr val="C9A96E"/>
                </a:solidFill>
                <a:latin typeface="Calibr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A6F8C"/>
                </a:solidFill>
                <a:latin typeface="Calibri"/>
              </a:rPr>
              <a:t>GSD2T ASSET MANAGEMENT · SIMULATED / FICTIONAL PITCH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11155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500" b="1">
                <a:solidFill>
                  <a:srgbClr val="C9A96E"/>
                </a:solidFill>
                <a:latin typeface="Calibri"/>
              </a:rPr>
              <a:t>▪  </a:t>
            </a:r>
            <a:r>
              <a:rPr sz="1500" b="1">
                <a:solidFill>
                  <a:srgbClr val="0B1F3A"/>
                </a:solidFill>
                <a:latin typeface="Calibri"/>
              </a:rPr>
              <a:t>Regime uncertainty is elevated: </a:t>
            </a:r>
            <a:r>
              <a:rPr sz="1500">
                <a:solidFill>
                  <a:srgbClr val="222A38"/>
                </a:solidFill>
                <a:latin typeface="Calibri"/>
              </a:rPr>
              <a:t>rates, inflation and geopolitics keep drawdown risk high — a strategy built to de-risk systematically is timely.</a:t>
            </a:r>
          </a:p>
          <a:p>
            <a:pPr>
              <a:spcAft>
                <a:spcPts val="1300"/>
              </a:spcAft>
            </a:pPr>
            <a:r>
              <a:rPr sz="1500" b="1">
                <a:solidFill>
                  <a:srgbClr val="C9A96E"/>
                </a:solidFill>
                <a:latin typeface="Calibri"/>
              </a:rPr>
              <a:t>▪  </a:t>
            </a:r>
            <a:r>
              <a:rPr sz="1500" b="1">
                <a:solidFill>
                  <a:srgbClr val="0B1F3A"/>
                </a:solidFill>
                <a:latin typeface="Calibri"/>
              </a:rPr>
              <a:t>Defensive assets pay again: </a:t>
            </a:r>
            <a:r>
              <a:rPr sz="1500">
                <a:solidFill>
                  <a:srgbClr val="222A38"/>
                </a:solidFill>
                <a:latin typeface="Calibri"/>
              </a:rPr>
              <a:t>with positive real yields, the Treasuries-and-gold sleeve earns a real return while waiting, unlike the zero-rate decade.</a:t>
            </a:r>
          </a:p>
          <a:p>
            <a:pPr>
              <a:spcAft>
                <a:spcPts val="1300"/>
              </a:spcAft>
            </a:pPr>
            <a:r>
              <a:rPr sz="1500" b="1">
                <a:solidFill>
                  <a:srgbClr val="C9A96E"/>
                </a:solidFill>
                <a:latin typeface="Calibri"/>
              </a:rPr>
              <a:t>▪  </a:t>
            </a:r>
            <a:r>
              <a:rPr sz="1500" b="1">
                <a:solidFill>
                  <a:srgbClr val="0B1F3A"/>
                </a:solidFill>
                <a:latin typeface="Calibri"/>
              </a:rPr>
              <a:t>Factor crowding favours discipline over cleverness: </a:t>
            </a:r>
            <a:r>
              <a:rPr sz="1500">
                <a:solidFill>
                  <a:srgbClr val="222A38"/>
                </a:solidFill>
                <a:latin typeface="Calibri"/>
              </a:rPr>
              <a:t>raw signals are commoditised; durable edge now lives in risk management and execution, which is our core.</a:t>
            </a:r>
          </a:p>
          <a:p>
            <a:pPr>
              <a:spcAft>
                <a:spcPts val="1300"/>
              </a:spcAft>
            </a:pPr>
            <a:r>
              <a:rPr sz="1500" b="1">
                <a:solidFill>
                  <a:srgbClr val="C9A96E"/>
                </a:solidFill>
                <a:latin typeface="Calibri"/>
              </a:rPr>
              <a:t>▪  </a:t>
            </a:r>
            <a:r>
              <a:rPr sz="1500" b="1">
                <a:solidFill>
                  <a:srgbClr val="0B1F3A"/>
                </a:solidFill>
                <a:latin typeface="Calibri"/>
              </a:rPr>
              <a:t>Liquidity and transparency are in demand: </a:t>
            </a:r>
            <a:r>
              <a:rPr sz="1500">
                <a:solidFill>
                  <a:srgbClr val="222A38"/>
                </a:solidFill>
                <a:latin typeface="Calibri"/>
              </a:rPr>
              <a:t>institutions want daily-liquid, rules-based, explainable strategies — exactly what we offer, with no black box.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Georgia"/>
              </a:rPr>
              <a:t>Thank you — GSD2T Asset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4630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C9A96E"/>
                </a:solidFill>
                <a:latin typeface="Calibri"/>
              </a:rPr>
              <a:t>Systematic. Diversified. Built to lose less.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28600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9A96E"/>
                </a:solidFill>
                <a:latin typeface="Calibri"/>
              </a:rPr>
              <a:t>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65176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[Names &amp; roles — every member presents]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29184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9A96E"/>
                </a:solidFill>
                <a:latin typeface="Calibri"/>
              </a:rPr>
              <a:t>AI-TOOL DISCLOSURE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65760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AI assistants were used for code scaffolding, back-test engineering, document drafting and review. All strategy decisions, data choices and results were defined and verified by the team. No results were fabricated; all figures are reproducible from the committed code (see HOW_TO_RUN.md).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93776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9A96E"/>
                </a:solidFill>
                <a:latin typeface="Calibri"/>
              </a:rPr>
              <a:t>DATA &amp; METHODS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530352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yfinance, Ken French Data Library, Bloomberg point-in-time S&amp;P 500. Back-test 2002–2026, monthly, net of 15 bps costs. Full appendix in the Jupyter notebook.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612648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A6F8C"/>
                </a:solidFill>
                <a:latin typeface="Calibri"/>
              </a:rPr>
              <a:t>Disclaimer: Fictional pitch for the ESADE Asset Management course. Not investment advice. All performance is SIMULATED; past performance does not indicate future results. No real fund names or live numbers are used.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2141</Words>
  <Application>Microsoft Macintosh PowerPoint</Application>
  <PresentationFormat>Widescreen</PresentationFormat>
  <Paragraphs>278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Torkel Mellin-Olsen</cp:lastModifiedBy>
  <cp:revision>2</cp:revision>
  <dcterms:created xsi:type="dcterms:W3CDTF">2013-01-27T09:14:16Z</dcterms:created>
  <dcterms:modified xsi:type="dcterms:W3CDTF">2026-06-04T12:34:34Z</dcterms:modified>
  <cp:category/>
</cp:coreProperties>
</file>