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38"/>
  </p:normalViewPr>
  <p:slideViewPr>
    <p:cSldViewPr snapToGrid="0" snapToObjects="1">
      <p:cViewPr>
        <p:scale>
          <a:sx n="95" d="100"/>
          <a:sy n="95" d="100"/>
        </p:scale>
        <p:origin x="-1592" y="88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2907792"/>
            <a:ext cx="12191695" cy="4572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4600" b="1">
                <a:solidFill>
                  <a:srgbClr val="FFFFFF"/>
                </a:solidFill>
                <a:latin typeface="Georgia"/>
              </a:rPr>
              <a:t>GSD</a:t>
            </a:r>
            <a:r>
              <a:rPr sz="4600" b="1">
                <a:solidFill>
                  <a:srgbClr val="C9A96E"/>
                </a:solidFill>
                <a:latin typeface="Georgia"/>
              </a:rPr>
              <a:t>2</a:t>
            </a:r>
            <a:r>
              <a:rPr sz="4600" b="1">
                <a:solidFill>
                  <a:srgbClr val="FFFFFF"/>
                </a:solidFill>
                <a:latin typeface="Georgia"/>
              </a:rPr>
              <a:t>T  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06324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0">
                <a:solidFill>
                  <a:srgbClr val="C9A96E"/>
                </a:solidFill>
                <a:latin typeface="Calibri"/>
              </a:rPr>
              <a:t>A diversified, macro-aware equity strategy that compounds by losing 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794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Quant Fund Pitch · ESADE Asset Management · seeking a USD 100M commitment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94360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5A6F8C"/>
                </a:solidFill>
                <a:latin typeface="Calibri"/>
              </a:rPr>
              <a:t>SIMULATED / FICTIONAL pitch for academic evaluation. Past (simulated) performance does not indicate future results.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THE ASK · USD 100M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NET CAGR (TO INVESTOR)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13.1%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10.0%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10128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93008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SHARPE (GROSS)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1.09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0.60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17336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MAX DRAWDOWN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-21.2%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S&amp;P 500 -50.8%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41732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4544" y="141732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07424" y="15270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ALPHA (FF5+MOM)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4650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+5.4%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2585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t = 4.3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71800"/>
            <a:ext cx="111556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What we are: </a:t>
            </a:r>
            <a:r>
              <a:rPr sz="1400">
                <a:solidFill>
                  <a:srgbClr val="222A38"/>
                </a:solidFill>
                <a:latin typeface="Calibri"/>
              </a:rPr>
              <a:t>a long-only, systematic S&amp;P 500 strategy with a macro-regime risk overlay and a productive defensive sleeve. Daily-liquid, transparent, factor-aware.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edge: </a:t>
            </a:r>
            <a:r>
              <a:rPr sz="1400">
                <a:solidFill>
                  <a:srgbClr val="222A38"/>
                </a:solidFill>
                <a:latin typeface="Calibri"/>
              </a:rPr>
              <a:t>we do not claim a faster momentum signal — we claim superior capital preservation. A 4-factor macro overlay cuts equity exposure in stress and rotates into Treasuries + gold, not idle cash.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result (simulated, 2002–2026): </a:t>
            </a:r>
            <a:r>
              <a:rPr sz="1400">
                <a:solidFill>
                  <a:srgbClr val="222A38"/>
                </a:solidFill>
                <a:latin typeface="Calibri"/>
              </a:rPr>
              <a:t>market-beating compounding at ~2/3 of the market's volatility and less than half its drawdown; statistically significant alpha that holds out-of-sample (IS Sharpe 1.16 → OOS 1.01).</a:t>
            </a:r>
          </a:p>
          <a:p>
            <a:pPr>
              <a:spcAft>
                <a:spcPts val="9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Honesty first: </a:t>
            </a:r>
            <a:r>
              <a:rPr sz="1400">
                <a:solidFill>
                  <a:srgbClr val="222A38"/>
                </a:solidFill>
                <a:latin typeface="Calibri"/>
              </a:rPr>
              <a:t>survivorship bias measured on point-in-time Bloomberg data (~1%/yr), full transaction costs, train/test discipline, and standard enhancements tested and rejected.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edge — what inefficiency, and why it persists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EDGE &amp; STRATEGY COHERENCE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The inefficiency: </a:t>
            </a:r>
            <a:r>
              <a:rPr sz="1400">
                <a:solidFill>
                  <a:srgbClr val="222A38"/>
                </a:solidFill>
                <a:latin typeface="Calibri"/>
              </a:rPr>
              <a:t>investors systematically overpay in calm markets and panic-sell in stress. Cross-sectional momentum persists because of under-reaction; drawdowns persist because risk premia are time-varying.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Our claim: </a:t>
            </a:r>
            <a:r>
              <a:rPr sz="1400">
                <a:solidFill>
                  <a:srgbClr val="222A38"/>
                </a:solidFill>
                <a:latin typeface="Calibri"/>
              </a:rPr>
              <a:t>the durable money is not in a better stock signal (commoditised) — it is in disciplined, rules-based de-risking that most discretionary investors cannot execute under pressure.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Why it persists: </a:t>
            </a:r>
            <a:r>
              <a:rPr sz="1400">
                <a:solidFill>
                  <a:srgbClr val="222A38"/>
                </a:solidFill>
                <a:latin typeface="Calibri"/>
              </a:rPr>
              <a:t>it is behavioural and structural, not arbitrageable away — mandates, career risk and leverage constraints stop most managers from cutting exposure when signals say so.</a:t>
            </a:r>
          </a:p>
          <a:p>
            <a:pPr>
              <a:spcAft>
                <a:spcPts val="1100"/>
              </a:spcAft>
            </a:pPr>
            <a:r>
              <a:rPr sz="1400" b="1">
                <a:solidFill>
                  <a:srgbClr val="C9A96E"/>
                </a:solidFill>
                <a:latin typeface="Calibri"/>
              </a:rPr>
              <a:t>▪  </a:t>
            </a:r>
            <a:r>
              <a:rPr sz="1400" b="1">
                <a:solidFill>
                  <a:srgbClr val="0B1F3A"/>
                </a:solidFill>
                <a:latin typeface="Calibri"/>
              </a:rPr>
              <a:t>Why us: </a:t>
            </a:r>
            <a:r>
              <a:rPr sz="1400">
                <a:solidFill>
                  <a:srgbClr val="222A38"/>
                </a:solidFill>
                <a:latin typeface="Calibri"/>
              </a:rPr>
              <a:t>a transparent, repeatable process with no discretion, no leverage, and a defensive sleeve that turns risk-off periods from a drag into a contributor.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0" y="1554480"/>
            <a:ext cx="5212080" cy="4206240"/>
          </a:xfrm>
          <a:prstGeom prst="rect">
            <a:avLst/>
          </a:prstGeom>
          <a:solidFill>
            <a:srgbClr val="F5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629400" y="173736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WHERE THE EDGE SHOWS UP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629400" y="2194560"/>
          <a:ext cx="475487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906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211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211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Metric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GSD2T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Sharpe (risk-adjusted)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Max drawdown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Volatility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11.9%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15.1%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Worst crisis (GFC)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see stress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−50%+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629400" y="5029200"/>
            <a:ext cx="47548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We win on the denominator (risk), not by chasing the numerator (return).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Data &amp; signals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DATA HYGIENE · NO LOOK-AHEAD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Two signal layers, both computed only from information available at decision time (lagged), then traded the next month.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28800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LAYER 1 — STOCK SELECTION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194560"/>
          <a:ext cx="539496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98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96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Item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Detail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Signal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12-1 month price momentum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Universe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Full S&amp;P 500, all 11 sectors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Ranking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Cross-sectional z-score each month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Selection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Equal-weight top quartile (~125 names)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6217920" y="182880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LAYER 2 — MACRO OVERLAY (4 FACTORS)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6217920" y="2194560"/>
          <a:ext cx="5486399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59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81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Factor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Captures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Source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VIX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Equity fear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CBOE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Credit (IEF−HYG)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Credit stress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ETF px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10Y yield Δ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Rate tightening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UST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Index trend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Market momentum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4" name="Rectangle 13"/>
          <p:cNvSpPr/>
          <p:nvPr/>
        </p:nvSpPr>
        <p:spPr>
          <a:xfrm>
            <a:off x="502920" y="4617720"/>
            <a:ext cx="11155680" cy="1371600"/>
          </a:xfrm>
          <a:prstGeom prst="rect">
            <a:avLst/>
          </a:prstGeom>
          <a:solidFill>
            <a:srgbClr val="F5F2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85800" y="470916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Data sources: </a:t>
            </a:r>
            <a:r>
              <a:rPr sz="1200">
                <a:solidFill>
                  <a:srgbClr val="222A38"/>
                </a:solidFill>
                <a:latin typeface="Calibri"/>
              </a:rPr>
              <a:t>yfinance (prices, VIX, ETFs), Ken French library (FF5 + Momentum, risk-free), Bloomberg point-in-time S&amp;P 500 membership for the survivorship test.</a:t>
            </a:r>
          </a:p>
          <a:p>
            <a:pPr>
              <a:spcAft>
                <a:spcPts val="7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Look-ahead controls: </a:t>
            </a:r>
            <a:r>
              <a:rPr sz="1200">
                <a:solidFill>
                  <a:srgbClr val="222A38"/>
                </a:solidFill>
                <a:latin typeface="Calibri"/>
              </a:rPr>
              <a:t>all signals lagged ≥1 month; rolling z-scores use only trailing windows; 2000–2001 reserved as signal warm-up, performance measured from 2002.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The strategy — two layers plus a defensive sleeve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STRATEGY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566160" cy="23774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1 · SELECT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Buy the strongest momentum stocks across all 11 S&amp;P 500 sectors. Equal-weight, diversified — not a tech bet.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63040"/>
            <a:ext cx="3566160" cy="2377440"/>
          </a:xfrm>
          <a:prstGeom prst="rect">
            <a:avLst/>
          </a:prstGeom>
          <a:solidFill>
            <a:srgbClr val="1E3A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2628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2 · OVERLAY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A 4-factor macro 'risk dial' scales equity exposure 30–100%. Calm → fully invested; stress → de-risk hard.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463040"/>
            <a:ext cx="3566160" cy="2377440"/>
          </a:xfrm>
          <a:prstGeom prst="rect">
            <a:avLst/>
          </a:prstGeom>
          <a:solidFill>
            <a:srgbClr val="2E7D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21040" y="164592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3 · DEFENSIVE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240280"/>
            <a:ext cx="3200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Calibri"/>
              </a:rPr>
              <a:t>The de-risked portion earns Treasuries + gold (convexity in crises), not idle cash. This is V1 — our key refinement.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4114800"/>
            <a:ext cx="11155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Position per stock = (1 / number held) × macro exposure.   No leverage · no shorting · monthly rebalance · 15 bps round-trip cost.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4663440"/>
            <a:ext cx="111556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Genuinely diversified: </a:t>
            </a:r>
            <a:r>
              <a:rPr sz="1300">
                <a:solidFill>
                  <a:srgbClr val="222A38"/>
                </a:solidFill>
                <a:latin typeface="Calibri"/>
              </a:rPr>
              <a:t>currently 126 holdings across 11 sectors — concentration risk is structurally capped (~1% per name).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Robust, not a fluke: </a:t>
            </a:r>
            <a:r>
              <a:rPr sz="1300">
                <a:solidFill>
                  <a:srgbClr val="222A38"/>
                </a:solidFill>
                <a:latin typeface="Calibri"/>
              </a:rPr>
              <a:t>the edge is a parameter plateau, survives the survivorship correction, and holds under cost and overlay stress-tests — a real effect, not a curve-fit.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Portfolio construction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PORTFOLIO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CURRENT SECTOR SPREAD (DIVERSIFIED)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691640"/>
          <a:ext cx="5120639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1456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060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Sector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# stocks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Information Technology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31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Industrials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21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Financials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17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Energy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Materials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Health Care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Consumer Discretionary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0B1F3A"/>
                          </a:solidFill>
                          <a:latin typeface="Calibri"/>
                        </a:rPr>
                        <a:t>Communication Services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0B1F3A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17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CONSTRUCTION 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37360"/>
            <a:ext cx="54864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Weighting: </a:t>
            </a:r>
            <a:r>
              <a:rPr sz="1250">
                <a:solidFill>
                  <a:srgbClr val="222A38"/>
                </a:solidFill>
                <a:latin typeface="Calibri"/>
              </a:rPr>
              <a:t>equal-weight within the book (tested inverse-vol and concentration — neither improved risk-adjusted returns).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Exposure: </a:t>
            </a:r>
            <a:r>
              <a:rPr sz="1250">
                <a:solidFill>
                  <a:srgbClr val="222A38"/>
                </a:solidFill>
                <a:latin typeface="Calibri"/>
              </a:rPr>
              <a:t>macro overlay sets gross 30–100%; average ~65% in equities, the rest in the defensive sleeve.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Defensive sleeve: </a:t>
            </a:r>
            <a:r>
              <a:rPr sz="1250">
                <a:solidFill>
                  <a:srgbClr val="222A38"/>
                </a:solidFill>
                <a:latin typeface="Calibri"/>
              </a:rPr>
              <a:t>Treasuries + gold (TLT/GLD, IEF early) — liquid ETFs, rebalanced with the book.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Constraints: </a:t>
            </a:r>
            <a:r>
              <a:rPr sz="1250">
                <a:solidFill>
                  <a:srgbClr val="222A38"/>
                </a:solidFill>
                <a:latin typeface="Calibri"/>
              </a:rPr>
              <a:t>long-only, no leverage, ~1% single-name cap, monthly rebalance.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Costs: </a:t>
            </a:r>
            <a:r>
              <a:rPr sz="1250">
                <a:solidFill>
                  <a:srgbClr val="222A38"/>
                </a:solidFill>
                <a:latin typeface="Calibri"/>
              </a:rPr>
              <a:t>15 bps round-trip applied to all turnover (~378%/yr); returns are net of these.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Risk framework — the core of the strategy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RISK FRAMEWORK (15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VOLATILITY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11.9%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market 15.1%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10128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93008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MAX DRAWDOWN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-21.2%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market -50.8%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17336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MARKET BETA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0.69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low net exposure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37160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4544" y="137160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07424" y="148132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SORTINO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0078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1.63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21284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downside-adjusted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2926080"/>
            <a:ext cx="1115568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Primary control — the macro overlay: </a:t>
            </a:r>
            <a:r>
              <a:rPr sz="1300">
                <a:solidFill>
                  <a:srgbClr val="222A38"/>
                </a:solidFill>
                <a:latin typeface="Calibri"/>
              </a:rPr>
              <a:t>de-grosses to as low as 30% equities in stress; this is what produces the −21% drawdown vs the market's −46/−50%.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Factor discipline: </a:t>
            </a:r>
            <a:r>
              <a:rPr sz="1300">
                <a:solidFill>
                  <a:srgbClr val="222A38"/>
                </a:solidFill>
                <a:latin typeface="Calibri"/>
              </a:rPr>
              <a:t>controlled exposures (market β 0.69, momentum +0.27); alpha measured against FF5+Momentum with Newey-West standard errors.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Diversification &amp; limits: </a:t>
            </a:r>
            <a:r>
              <a:rPr sz="1300">
                <a:solidFill>
                  <a:srgbClr val="222A38"/>
                </a:solidFill>
                <a:latin typeface="Calibri"/>
              </a:rPr>
              <a:t>~125 names, 11 sectors, ~1%% single-name cap, no leverage, no shorting — failure of any one name is immaterial.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Defensive convexity: </a:t>
            </a:r>
            <a:r>
              <a:rPr sz="1300">
                <a:solidFill>
                  <a:srgbClr val="222A38"/>
                </a:solidFill>
                <a:latin typeface="Calibri"/>
              </a:rPr>
              <a:t>the risk-off sleeve (Treasuries + gold) tends to rise when equities fall, cushioning crises further.</a:t>
            </a:r>
          </a:p>
          <a:p>
            <a:pPr>
              <a:spcAft>
                <a:spcPts val="7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Coherent tail measure: </a:t>
            </a:r>
            <a:r>
              <a:rPr sz="1300">
                <a:solidFill>
                  <a:srgbClr val="222A38"/>
                </a:solidFill>
                <a:latin typeface="Calibri"/>
              </a:rPr>
              <a:t>monthly 95% expected shortfall (CVaR) 6.7% vs the market's 9.6% — we report ES, not Gaussian VaR.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Back-test results (simulated, 2002–2026)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SIMULATED · NET OF 15 BPS COSTS · GROSS OF FEES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deck_equ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766560" cy="38284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06640" y="1371600"/>
            <a:ext cx="42976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PERFORMANCE SUMMARY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406640" y="1783080"/>
          <a:ext cx="4297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5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550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595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50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Shrp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Fund (full)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In-sample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14.7%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1.16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Out-of-sample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15.2%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1.01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406640" y="4023360"/>
            <a:ext cx="429768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2E7D5B"/>
                </a:solidFill>
                <a:latin typeface="Calibri"/>
              </a:rPr>
              <a:t>Alpha +5.4% / yr (t=4.3)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vs FF5+Momentum, Newey-West SEs.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5A6F8C"/>
                </a:solidFill>
                <a:latin typeface="Calibri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0B1F3A"/>
                </a:solidFill>
                <a:latin typeface="Calibri"/>
              </a:rPr>
              <a:t>Out-of-sample Sharpe 1.01 vs 1.16 in-sample — a modest step-down, not the collapse overfitting produces; still well above the market OOS.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598932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C"/>
                </a:solidFill>
                <a:latin typeface="Calibri"/>
              </a:rPr>
              <a:t>Label: all figures SIMULATED on historical data; no live or paper track record is shown.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Back-test honesty — the red-flag checklist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BACK-TEST HONESTY (25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417320"/>
          <a:ext cx="11155678" cy="37124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467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08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Common red flag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How we handle it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Survivorship bias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Measured on Bloomberg point-in-time S&amp;P 500 (1,085 names incl. delisted): only ~1.0%/yr — quantified, not assumed.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Look-ahead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All signals lagged ≥1 month; trailing-only z-scores; 2000–01 reserved as warm-up.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No transaction costs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15 bps round-trip on all turnover; every figure is net of costs.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Overfitting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Train/test split (2002–15 vs 2016–26); OOS Sharpe close to IS (no collapse); standard enhancements tested and rejected.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1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Sharpe too good / undisclosed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Sharpe 1.09 with full methodology; deflated-Sharpe and factor regression in the appendix.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7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0B1F3A"/>
                          </a:solidFill>
                          <a:latin typeface="Calibri"/>
                        </a:rPr>
                        <a:t>Simulated vs live mislabelled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0B1F3A"/>
                          </a:solidFill>
                          <a:latin typeface="Calibri"/>
                        </a:rPr>
                        <a:t>Everything is labelled SIMULATED; the fund is fictional.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Stress tests — behaviour in every major crisis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RISK FRAMEWORK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09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deck_str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6858000" cy="360947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98079" y="1554480"/>
            <a:ext cx="42062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The pattern: </a:t>
            </a:r>
            <a:r>
              <a:rPr sz="1300">
                <a:solidFill>
                  <a:srgbClr val="222A38"/>
                </a:solidFill>
                <a:latin typeface="Calibri"/>
              </a:rPr>
              <a:t>in every major drawdown the overlay de-grosses and the defensive sleeve cushions, so we fall far less than the market.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GFC &amp; COVID: </a:t>
            </a:r>
            <a:r>
              <a:rPr sz="1300">
                <a:solidFill>
                  <a:srgbClr val="222A38"/>
                </a:solidFill>
                <a:latin typeface="Calibri"/>
              </a:rPr>
              <a:t>the largest gaps — exactly when capital preservation matters most.</a:t>
            </a:r>
          </a:p>
          <a:p>
            <a:pPr>
              <a:spcAft>
                <a:spcPts val="10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2022: </a:t>
            </a:r>
            <a:r>
              <a:rPr sz="1300">
                <a:solidFill>
                  <a:srgbClr val="222A38"/>
                </a:solidFill>
                <a:latin typeface="Calibri"/>
              </a:rPr>
              <a:t>bonds and stocks fell together; we disclose this regime risk, yet the out-of-sample period (incl. 2022) still beats the market.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Robustness — we tried to break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RESEARCH PROCESS · ANTI-OVERFITTING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pic>
        <p:nvPicPr>
          <p:cNvPr id="9" name="Picture 8" descr="fig_bakeo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71600"/>
            <a:ext cx="6858000" cy="37147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52360" y="1508760"/>
            <a:ext cx="42976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Parameter stability: </a:t>
            </a:r>
            <a:r>
              <a:rPr sz="1300">
                <a:solidFill>
                  <a:srgbClr val="222A38"/>
                </a:solidFill>
                <a:latin typeface="Calibri"/>
              </a:rPr>
              <a:t>Sharpe 0.93–1.00 across 15 lookback × quantile settings — a plateau, not a spike.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Enhancements tested: </a:t>
            </a:r>
            <a:r>
              <a:rPr sz="1300">
                <a:solidFill>
                  <a:srgbClr val="222A38"/>
                </a:solidFill>
                <a:latin typeface="Calibri"/>
              </a:rPr>
              <a:t>risk-managed momentum, vol targeting, low-beta and quality tilts — none beat the simple design out-of-sample.</a:t>
            </a:r>
          </a:p>
          <a:p>
            <a:pPr>
              <a:spcAft>
                <a:spcPts val="1100"/>
              </a:spcAft>
            </a:pPr>
            <a:r>
              <a:rPr sz="1300" b="1">
                <a:solidFill>
                  <a:srgbClr val="C9A96E"/>
                </a:solidFill>
                <a:latin typeface="Calibri"/>
              </a:rPr>
              <a:t>▪  </a:t>
            </a:r>
            <a:r>
              <a:rPr sz="1300" b="1">
                <a:solidFill>
                  <a:srgbClr val="0B1F3A"/>
                </a:solidFill>
                <a:latin typeface="Calibri"/>
              </a:rPr>
              <a:t>Discipline: </a:t>
            </a:r>
            <a:r>
              <a:rPr sz="1300">
                <a:solidFill>
                  <a:srgbClr val="222A38"/>
                </a:solidFill>
                <a:latin typeface="Calibri"/>
              </a:rPr>
              <a:t>we kept it simple by evidence, not by default. Complexity that overfits in-sample was rejected.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Capacity — the $100M fits many times over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CAPACITY (QUANT BASIS)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85800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RAISE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$100M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the commitment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310128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493008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SOFT CAPACITY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93008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$1.7–3.3B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008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strategy-level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17336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17336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00216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HEADROOM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0216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17–33×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0216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vs the raise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24544" y="1463040"/>
            <a:ext cx="2514600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924544" y="1463040"/>
            <a:ext cx="73152" cy="1143000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107424" y="157276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C9A96E"/>
                </a:solidFill>
                <a:latin typeface="Calibri"/>
              </a:rPr>
              <a:t>USED AT RAISE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07424" y="1792224"/>
            <a:ext cx="2240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Georgia"/>
              </a:rPr>
              <a:t>~3%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07424" y="2304288"/>
            <a:ext cx="22402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8C8E0"/>
                </a:solidFill>
                <a:latin typeface="Calibri"/>
              </a:rPr>
              <a:t>of capacity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017520"/>
            <a:ext cx="557784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Basis: </a:t>
            </a:r>
            <a:r>
              <a:rPr sz="1250">
                <a:solidFill>
                  <a:srgbClr val="222A38"/>
                </a:solidFill>
                <a:latin typeface="Calibri"/>
              </a:rPr>
              <a:t>5% of ADV over 2 days per name, ~111 holdings. ADV $150M (measured median) to $300M ADV per name — cross-checked against actual volume data, not assumed.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Curve, not just a number: </a:t>
            </a:r>
            <a:r>
              <a:rPr sz="1250">
                <a:solidFill>
                  <a:srgbClr val="222A38"/>
                </a:solidFill>
                <a:latin typeface="Calibri"/>
              </a:rPr>
              <a:t>net Sharpe holds above the market well past the raise; it degrades only gradually (sub-linear square-root impact).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Defensive sleeve: </a:t>
            </a:r>
            <a:r>
              <a:rPr sz="1250">
                <a:solidFill>
                  <a:srgbClr val="222A38"/>
                </a:solidFill>
                <a:latin typeface="Calibri"/>
              </a:rPr>
              <a:t>held in the most liquid ETFs on earth — no capacity constraint.</a:t>
            </a:r>
          </a:p>
        </p:txBody>
      </p:sp>
      <p:pic>
        <p:nvPicPr>
          <p:cNvPr id="30" name="Picture 29" descr="fig_capacity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2926080"/>
            <a:ext cx="5486400" cy="3077737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Fund structure &amp; terms — aligned with liquidity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FUND STRUCTURE &amp; TERMS (10 PTS)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TERMS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737360"/>
          <a:ext cx="5486399" cy="3017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7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4859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Term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What we charge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Management fee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1.0% per annum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Performance fee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15% of return ABOVE the S&amp;P 500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High-water mark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Yes (relative to benchmark)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Liquidity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Monthly, no lock-up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Crystallisation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Annual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263640" y="1325880"/>
            <a:ext cx="54864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WHAT THE INVESTOR RECEIVES (NET)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263640" y="1737360"/>
          <a:ext cx="5486398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831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926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9269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269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Gross strategy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NET to investor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13.1%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0.96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-23.5%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S&amp;P 500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10.0%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0.60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-50.8%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502920" y="4617720"/>
            <a:ext cx="111556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Why not 2/20: </a:t>
            </a:r>
            <a:r>
              <a:rPr sz="1350">
                <a:solidFill>
                  <a:srgbClr val="222A38"/>
                </a:solidFill>
                <a:latin typeface="Calibri"/>
              </a:rPr>
              <a:t>the strategy is daily-liquid and partly factor-replicable, so we charge below hedge-fund terms.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Benchmark-relative performance fee: </a:t>
            </a:r>
            <a:r>
              <a:rPr sz="1350">
                <a:solidFill>
                  <a:srgbClr val="222A38"/>
                </a:solidFill>
                <a:latin typeface="Calibri"/>
              </a:rPr>
              <a:t>we are paid only on return ABOVE the S&amp;P 500 — not on market beta you can buy for 5 bps.</a:t>
            </a:r>
          </a:p>
          <a:p>
            <a:pPr>
              <a:spcAft>
                <a:spcPts val="900"/>
              </a:spcAft>
            </a:pPr>
            <a:r>
              <a:rPr sz="1350" b="1">
                <a:solidFill>
                  <a:srgbClr val="C9A96E"/>
                </a:solidFill>
                <a:latin typeface="Calibri"/>
              </a:rPr>
              <a:t>▪  </a:t>
            </a:r>
            <a:r>
              <a:rPr sz="1350" b="1">
                <a:solidFill>
                  <a:srgbClr val="0B1F3A"/>
                </a:solidFill>
                <a:latin typeface="Calibri"/>
              </a:rPr>
              <a:t>Net of all fees: </a:t>
            </a:r>
            <a:r>
              <a:rPr sz="1350">
                <a:solidFill>
                  <a:srgbClr val="222A38"/>
                </a:solidFill>
                <a:latin typeface="Calibri"/>
              </a:rPr>
              <a:t>the investor still earns 13.1% vs the market's 10.0%, at higher Sharpe and ~half the drawdown.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Why now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WHY NOW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54480"/>
            <a:ext cx="111556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Regime uncertainty is elevated: </a:t>
            </a:r>
            <a:r>
              <a:rPr sz="1500">
                <a:solidFill>
                  <a:srgbClr val="222A38"/>
                </a:solidFill>
                <a:latin typeface="Calibri"/>
              </a:rPr>
              <a:t>rates, inflation and geopolitics keep drawdown risk high — a strategy built to de-risk systematically is timely.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Defensive assets pay again: </a:t>
            </a:r>
            <a:r>
              <a:rPr sz="1500">
                <a:solidFill>
                  <a:srgbClr val="222A38"/>
                </a:solidFill>
                <a:latin typeface="Calibri"/>
              </a:rPr>
              <a:t>with positive real yields, the Treasuries-and-gold sleeve earns a real return while waiting, unlike the zero-rate decade.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Factor crowding favours discipline over cleverness: </a:t>
            </a:r>
            <a:r>
              <a:rPr sz="1500">
                <a:solidFill>
                  <a:srgbClr val="222A38"/>
                </a:solidFill>
                <a:latin typeface="Calibri"/>
              </a:rPr>
              <a:t>raw signals are commoditised; durable edge now lives in risk management and execution, which is our core.</a:t>
            </a:r>
          </a:p>
          <a:p>
            <a:pPr>
              <a:spcAft>
                <a:spcPts val="1300"/>
              </a:spcAft>
            </a:pPr>
            <a:r>
              <a:rPr sz="1500" b="1">
                <a:solidFill>
                  <a:srgbClr val="C9A96E"/>
                </a:solidFill>
                <a:latin typeface="Calibri"/>
              </a:rPr>
              <a:t>▪  </a:t>
            </a:r>
            <a:r>
              <a:rPr sz="1500" b="1">
                <a:solidFill>
                  <a:srgbClr val="0B1F3A"/>
                </a:solidFill>
                <a:latin typeface="Calibri"/>
              </a:rPr>
              <a:t>Liquidity and transparency are in demand: </a:t>
            </a:r>
            <a:r>
              <a:rPr sz="1500">
                <a:solidFill>
                  <a:srgbClr val="222A38"/>
                </a:solidFill>
                <a:latin typeface="Calibri"/>
              </a:rPr>
              <a:t>institutions want daily-liquid, rules-based, explainable strategies — exactly what we offer, with no black box.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Georgia"/>
              </a:rPr>
              <a:t>Thank you — GSD2T Asset Management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6304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A96E"/>
                </a:solidFill>
                <a:latin typeface="Calibri"/>
              </a:rPr>
              <a:t>Systematic. Diversified. Built to lose less.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28600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TEAM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6517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[Names &amp; roles — every member presents]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329184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AI-TOOL DISCLOSURE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3657600"/>
            <a:ext cx="10789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AI assistants were used for code scaffolding, back-test engineering, document drafting and review. All strategy decisions, data choices and results were defined and verified by the team. No results were fabricated; all figures are reproducible from the committed code (see HOW_TO_RUN.md).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4937760"/>
            <a:ext cx="10515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DATA &amp;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8" y="5303520"/>
            <a:ext cx="10789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yfinance, Ken French Data Library, Bloomberg point-in-time S&amp;P 500. Back-test 2002–2026, monthly, net of 15 bps costs. Full appendix in the Jupyter notebook.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6126480"/>
            <a:ext cx="107899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5A6F8C"/>
                </a:solidFill>
                <a:latin typeface="Calibri"/>
              </a:rPr>
              <a:t>Disclaimer: Fictional pitch for the ESADE Asset Management course. Not investment advice. All performance is SIMULATED; past performance does not indicate future results. No real fund names or live numbers are used.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Appendix A — why we hold ~125 names, not 25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Q&amp;A BACKUP · BEYOND THE 15-SLIDE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"Why not just hold 20–30 high-conviction names?" — Because the concentrated book only wins in our single most-optimistic backtest, and reverses on the honest data.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02920" y="1920240"/>
          <a:ext cx="7772398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5799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5641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382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7416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Concentration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Monthly Sharpe
(optimistic)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Survivorship-free
Sharpe (honest)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Surv-free
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Top 25 names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1.20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0.48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-31%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Top decile (~50)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1.11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0.50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-28%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Quartile (~125) — FLAGSHIP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0.54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0B1F3A"/>
                          </a:solidFill>
                          <a:latin typeface="Calibri"/>
                        </a:rPr>
                        <a:t>Tercile (~165)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0.57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0B1F3A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503920" y="1920240"/>
            <a:ext cx="320040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0B1F3A"/>
                </a:solidFill>
                <a:latin typeface="Calibri"/>
              </a:rPr>
              <a:t>THE PATTERN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Concentrated (25) wins only at monthly frequency on current constituents (Sharpe 1.20).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 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222A38"/>
                </a:solidFill>
                <a:latin typeface="Calibri"/>
              </a:rPr>
              <a:t>On survivorship-free, point-in-time data it LOSES — quartile 0.54 vs 0.48, and −21% vs −31% drawdown.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4572000"/>
            <a:ext cx="1115568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Verdict: </a:t>
            </a:r>
            <a:r>
              <a:rPr sz="1250">
                <a:solidFill>
                  <a:srgbClr val="222A38"/>
                </a:solidFill>
                <a:latin typeface="Calibri"/>
              </a:rPr>
              <a:t>an edge that appears only in our most flattering configuration — and reverses on survivorship-free data and at quarterly frequency — is an artifact, not an edge. We pitch the diversified book: the number we can trust.</a:t>
            </a:r>
          </a:p>
          <a:p>
            <a:pPr>
              <a:spcAft>
                <a:spcPts val="800"/>
              </a:spcAft>
            </a:pPr>
            <a:r>
              <a:rPr sz="1250" b="1">
                <a:solidFill>
                  <a:srgbClr val="C9A96E"/>
                </a:solidFill>
                <a:latin typeface="Calibri"/>
              </a:rPr>
              <a:t>▪  </a:t>
            </a:r>
            <a:r>
              <a:rPr sz="1250" b="1">
                <a:solidFill>
                  <a:srgbClr val="0B1F3A"/>
                </a:solidFill>
                <a:latin typeface="Calibri"/>
              </a:rPr>
              <a:t>Also tested: </a:t>
            </a:r>
            <a:r>
              <a:rPr sz="1250">
                <a:solidFill>
                  <a:srgbClr val="222A38"/>
                </a:solidFill>
                <a:latin typeface="Calibri"/>
              </a:rPr>
              <a:t>inverse-volatility weighting lowered the Sharpe (0.99 vs 1.09); equal weight won on evidence.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C9A9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2920" y="27432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Calibri"/>
              </a:rPr>
              <a:t>Appendix B — every assumption stress-tested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7" y="786384"/>
            <a:ext cx="10515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Q&amp;A BACKUP · BEYOND THE 15-SLIDE PITCH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38560" y="41148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15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0">
                <a:solidFill>
                  <a:srgbClr val="5A6F8C"/>
                </a:solidFill>
                <a:latin typeface="Calibri"/>
              </a:rPr>
              <a:t>GSD2T ASSET MANAGEMENT · SIMULATED / FICTIONAL PITCH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1">
                <a:solidFill>
                  <a:srgbClr val="0B1F3A"/>
                </a:solidFill>
                <a:latin typeface="Calibri"/>
              </a:rPr>
              <a:t>We measured or stress-tested every input. The two judgement calls — trading costs and the overlay calibration — both hold.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874519"/>
            <a:ext cx="5212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TRANSACTION COST — edge survives even at 6× the assumption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286000"/>
          <a:ext cx="5212079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2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089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089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0895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Round-trip cost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CAGR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Sharpe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MaxDD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15 bps (current)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14.9%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-21.2%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30 bps (2×)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14.3%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1.04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-21.6%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50 bps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13.4%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0.98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-22.1%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100 bps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11.3%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0.82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-23.3%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02920" y="4754880"/>
            <a:ext cx="52120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F8C"/>
                </a:solidFill>
                <a:latin typeface="Calibri"/>
              </a:rPr>
              <a:t>Even at 100 bps — six times our assumption — Sharpe 0.82 and 11.3% CAGR still beat the market (0.60 / 10.0%). The 15 bps assumption is not load-bearing.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874519"/>
            <a:ext cx="55778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100" b="1">
                <a:solidFill>
                  <a:srgbClr val="0B1F3A"/>
                </a:solidFill>
                <a:latin typeface="Calibri"/>
              </a:rPr>
              <a:t>OVERLAY CALIBRATION — a plateau, not a curve-fit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126480" y="2286000"/>
          <a:ext cx="5577837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476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6769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6769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676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base \ slope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0.125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0.175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0.225</a:t>
                      </a:r>
                    </a:p>
                  </a:txBody>
                  <a:tcPr marT="25400" marB="25400">
                    <a:solidFill>
                      <a:srgbClr val="0B1F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0.55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0.65 ←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1.09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1.08</a:t>
                      </a:r>
                    </a:p>
                  </a:txBody>
                  <a:tcPr marT="12700" marB="12700">
                    <a:solidFill>
                      <a:srgbClr val="F5F2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0B1F3A"/>
                          </a:solidFill>
                          <a:latin typeface="Calibri"/>
                        </a:rPr>
                        <a:t>0.75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1.06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0B1F3A"/>
                          </a:solidFill>
                          <a:latin typeface="Calibri"/>
                        </a:rPr>
                        <a:t>1.07</a:t>
                      </a:r>
                    </a:p>
                  </a:txBody>
                  <a:tcPr marT="12700" marB="127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6126480" y="4572000"/>
            <a:ext cx="55778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5A6F8C"/>
                </a:solidFill>
                <a:latin typeface="Calibri"/>
              </a:rPr>
              <a:t>Sharpe ranges only 1.06–1.09 across nine settings (baseline 55–75%, slope 0.125–0.225). The result doesn't hinge on the exact 0.65 / 0.175 — direct evidence we did not tune these to the backtest.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55778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1">
                <a:solidFill>
                  <a:srgbClr val="C9A96E"/>
                </a:solidFill>
                <a:latin typeface="Calibri"/>
              </a:rPr>
              <a:t>▪  </a:t>
            </a:r>
            <a:r>
              <a:rPr sz="1200" b="1">
                <a:solidFill>
                  <a:srgbClr val="0B1F3A"/>
                </a:solidFill>
                <a:latin typeface="Calibri"/>
              </a:rPr>
              <a:t>Takeaway: </a:t>
            </a:r>
            <a:r>
              <a:rPr sz="1200">
                <a:solidFill>
                  <a:srgbClr val="222A38"/>
                </a:solidFill>
                <a:latin typeface="Calibri"/>
              </a:rPr>
              <a:t>every assumption in the model is either measured against data (ADV) or stress-tested (cost, overlay). None is a hidden knife-edge.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2637</Words>
  <Application>Microsoft Macintosh PowerPoint</Application>
  <PresentationFormat>Widescreen</PresentationFormat>
  <Paragraphs>356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1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Torkel Mellin-Olsen</cp:lastModifiedBy>
  <cp:revision>2</cp:revision>
  <dcterms:created xsi:type="dcterms:W3CDTF">2013-01-27T09:14:16Z</dcterms:created>
  <dcterms:modified xsi:type="dcterms:W3CDTF">2026-06-07T17:23:45Z</dcterms:modified>
  <cp:category/>
</cp:coreProperties>
</file>